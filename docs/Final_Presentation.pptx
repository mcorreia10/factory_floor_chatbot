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5E8258-34F5-474B-B590-A5CAB6F93EA2}">
  <a:tblStyle styleId="{5C5E8258-34F5-474B-B590-A5CAB6F93EA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a23ef1170_1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fa23ef1170_1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fa23ef1170_1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7e95367b46041dce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7e95367b46041dce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7e95367b46041dce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3" name="Google Shape;393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EE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10561320" y="137160"/>
            <a:ext cx="1965960" cy="1965960"/>
          </a:xfrm>
          <a:prstGeom prst="ellipse">
            <a:avLst/>
          </a:prstGeom>
          <a:solidFill>
            <a:srgbClr val="FBEA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 txBox="1"/>
          <p:nvPr/>
        </p:nvSpPr>
        <p:spPr>
          <a:xfrm>
            <a:off x="640080" y="2331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E2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E08E24"/>
                </a:solidFill>
                <a:latin typeface="Calibri"/>
                <a:ea typeface="Calibri"/>
                <a:cs typeface="Calibri"/>
                <a:sym typeface="Calibri"/>
              </a:rPr>
              <a:t>IRONHACK AI ENGINEERING · FINAL PROJECT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 txBox="1"/>
          <p:nvPr/>
        </p:nvSpPr>
        <p:spPr>
          <a:xfrm>
            <a:off x="594360" y="2651760"/>
            <a:ext cx="9601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5400"/>
              <a:buFont typeface="Cambria"/>
              <a:buNone/>
            </a:pPr>
            <a:r>
              <a:rPr b="1" lang="en-US" sz="5400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The Factory Floor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 txBox="1"/>
          <p:nvPr/>
        </p:nvSpPr>
        <p:spPr>
          <a:xfrm>
            <a:off x="640079" y="3794760"/>
            <a:ext cx="9385069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An industrial maintenance copilot - Electric Motors and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Variable-Frequency Drives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40080" y="5074920"/>
            <a:ext cx="1737360" cy="457200"/>
          </a:xfrm>
          <a:prstGeom prst="roundRect">
            <a:avLst>
              <a:gd fmla="val 50000" name="adj"/>
            </a:avLst>
          </a:prstGeom>
          <a:solidFill>
            <a:srgbClr val="2E47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640080" y="507492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Symptom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606040" y="5074920"/>
            <a:ext cx="1737360" cy="457200"/>
          </a:xfrm>
          <a:prstGeom prst="roundRect">
            <a:avLst>
              <a:gd fmla="val 50000" name="adj"/>
            </a:avLst>
          </a:prstGeom>
          <a:solidFill>
            <a:srgbClr val="5B7A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2606040" y="507492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Photo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0" y="5074920"/>
            <a:ext cx="1737360" cy="457200"/>
          </a:xfrm>
          <a:prstGeom prst="roundRect">
            <a:avLst>
              <a:gd fmla="val 50000" name="adj"/>
            </a:avLst>
          </a:prstGeom>
          <a:solidFill>
            <a:srgbClr val="5B7A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4572000" y="507492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3"/>
          <p:cNvCxnSpPr/>
          <p:nvPr/>
        </p:nvCxnSpPr>
        <p:spPr>
          <a:xfrm>
            <a:off x="6583680" y="5303520"/>
            <a:ext cx="457200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" name="Google Shape;24;p3"/>
          <p:cNvSpPr/>
          <p:nvPr/>
        </p:nvSpPr>
        <p:spPr>
          <a:xfrm>
            <a:off x="7086600" y="5001768"/>
            <a:ext cx="2103120" cy="603504"/>
          </a:xfrm>
          <a:prstGeom prst="roundRect">
            <a:avLst>
              <a:gd fmla="val 50000" name="adj"/>
            </a:avLst>
          </a:prstGeom>
          <a:solidFill>
            <a:srgbClr val="E08E2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7086600" y="5001768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Grounded Answer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Marcelo Correia   ·   mcorreia10/Factory_Floor_Chatbot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E2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08E24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Manuals Are Long. Failures Are Urgent.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760220" y="1828800"/>
            <a:ext cx="1005840" cy="1005840"/>
          </a:xfrm>
          <a:prstGeom prst="ellipse">
            <a:avLst/>
          </a:prstGeom>
          <a:solidFill>
            <a:srgbClr val="EE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043684" y="2057400"/>
            <a:ext cx="438912" cy="54864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9050">
            <a:solidFill>
              <a:srgbClr val="2E4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4"/>
          <p:cNvCxnSpPr/>
          <p:nvPr/>
        </p:nvCxnSpPr>
        <p:spPr>
          <a:xfrm>
            <a:off x="2135124" y="2148840"/>
            <a:ext cx="256032" cy="0"/>
          </a:xfrm>
          <a:prstGeom prst="straightConnector1">
            <a:avLst/>
          </a:prstGeom>
          <a:noFill/>
          <a:ln cap="flat" cmpd="sng" w="15875">
            <a:solidFill>
              <a:srgbClr val="5B7A8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4"/>
          <p:cNvCxnSpPr/>
          <p:nvPr/>
        </p:nvCxnSpPr>
        <p:spPr>
          <a:xfrm>
            <a:off x="2135124" y="2276856"/>
            <a:ext cx="256032" cy="0"/>
          </a:xfrm>
          <a:prstGeom prst="straightConnector1">
            <a:avLst/>
          </a:prstGeom>
          <a:noFill/>
          <a:ln cap="flat" cmpd="sng" w="15875">
            <a:solidFill>
              <a:srgbClr val="5B7A8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4"/>
          <p:cNvCxnSpPr/>
          <p:nvPr/>
        </p:nvCxnSpPr>
        <p:spPr>
          <a:xfrm>
            <a:off x="2135124" y="2404872"/>
            <a:ext cx="256032" cy="0"/>
          </a:xfrm>
          <a:prstGeom prst="straightConnector1">
            <a:avLst/>
          </a:prstGeom>
          <a:noFill/>
          <a:ln cap="flat" cmpd="sng" w="15875">
            <a:solidFill>
              <a:srgbClr val="5B7A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4"/>
          <p:cNvSpPr txBox="1"/>
          <p:nvPr/>
        </p:nvSpPr>
        <p:spPr>
          <a:xfrm>
            <a:off x="548640" y="301752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2100"/>
              <a:buFont typeface="Cambria"/>
              <a:buNone/>
            </a:pPr>
            <a:r>
              <a:rPr b="1" lang="en-US" sz="2100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500+ pages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685800" y="3520440"/>
            <a:ext cx="3154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per equipment manual — spread across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operating, list, and function manuals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509260" y="1828800"/>
            <a:ext cx="1005840" cy="1005840"/>
          </a:xfrm>
          <a:prstGeom prst="ellipse">
            <a:avLst/>
          </a:prstGeom>
          <a:solidFill>
            <a:srgbClr val="EE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5554980" y="2048256"/>
            <a:ext cx="914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2E4756"/>
                </a:solidFill>
                <a:latin typeface="Courier New"/>
                <a:ea typeface="Courier New"/>
                <a:cs typeface="Courier New"/>
                <a:sym typeface="Courier New"/>
              </a:rPr>
              <a:t>F30021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4297680" y="301752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2100"/>
              <a:buFont typeface="Cambria"/>
              <a:buNone/>
            </a:pPr>
            <a:r>
              <a:rPr b="1" lang="en-US" sz="2100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One exact code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4434840" y="3520440"/>
            <a:ext cx="3154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buried somewhere inside a PDF - the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technician needs to search manually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258300" y="1828800"/>
            <a:ext cx="1005840" cy="1005840"/>
          </a:xfrm>
          <a:prstGeom prst="ellipse">
            <a:avLst/>
          </a:prstGeom>
          <a:solidFill>
            <a:srgbClr val="FBEA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9505188" y="2029968"/>
            <a:ext cx="512064" cy="457200"/>
          </a:xfrm>
          <a:prstGeom prst="triangle">
            <a:avLst>
              <a:gd fmla="val 50000" name="adj"/>
            </a:avLst>
          </a:prstGeom>
          <a:solidFill>
            <a:srgbClr val="E08E2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9505188" y="2103120"/>
            <a:ext cx="512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 txBox="1"/>
          <p:nvPr/>
        </p:nvSpPr>
        <p:spPr>
          <a:xfrm>
            <a:off x="8046720" y="301752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2100"/>
              <a:buFont typeface="Cambria"/>
              <a:buNone/>
            </a:pPr>
            <a:r>
              <a:rPr b="1" lang="en-US" sz="2100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One wrong guess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8183880" y="3520440"/>
            <a:ext cx="3154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means avoidable downtime — or 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safety incident on live equipment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48640" y="5074920"/>
            <a:ext cx="11091672" cy="868680"/>
          </a:xfrm>
          <a:prstGeom prst="roundRect">
            <a:avLst>
              <a:gd fmla="val 8421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868680" y="507492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Today: </a:t>
            </a:r>
            <a:r>
              <a:rPr lang="en-US" sz="14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the operator opens a 500-page PDF, searches the code in it, and hopes the fault code they typed matches what's printed on the drive.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The Factory Floor  ·  Industrial Maintenance Copilot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E2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08E24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Ask It Like You'd Ask a Colleague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48640" y="2514600"/>
            <a:ext cx="2286000" cy="868680"/>
          </a:xfrm>
          <a:prstGeom prst="roundRect">
            <a:avLst>
              <a:gd fmla="val 9474" name="adj"/>
            </a:avLst>
          </a:prstGeom>
          <a:solidFill>
            <a:srgbClr val="EEF3F5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658368" y="2514600"/>
            <a:ext cx="206654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Symptom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operator describes it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48640" y="3749040"/>
            <a:ext cx="2286000" cy="868680"/>
          </a:xfrm>
          <a:prstGeom prst="roundRect">
            <a:avLst>
              <a:gd fmla="val 9474" name="adj"/>
            </a:avLst>
          </a:prstGeom>
          <a:solidFill>
            <a:srgbClr val="EEF3F5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658368" y="3749040"/>
            <a:ext cx="206654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Photo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5"/>
          <p:cNvCxnSpPr/>
          <p:nvPr/>
        </p:nvCxnSpPr>
        <p:spPr>
          <a:xfrm>
            <a:off x="2834640" y="2948940"/>
            <a:ext cx="502920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" name="Google Shape;66;p5"/>
          <p:cNvCxnSpPr/>
          <p:nvPr/>
        </p:nvCxnSpPr>
        <p:spPr>
          <a:xfrm>
            <a:off x="2834640" y="4183380"/>
            <a:ext cx="502920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" name="Google Shape;67;p5"/>
          <p:cNvSpPr/>
          <p:nvPr/>
        </p:nvSpPr>
        <p:spPr>
          <a:xfrm>
            <a:off x="3337560" y="2628900"/>
            <a:ext cx="2468880" cy="1874520"/>
          </a:xfrm>
          <a:prstGeom prst="roundRect">
            <a:avLst>
              <a:gd fmla="val 4390" name="adj"/>
            </a:avLst>
          </a:prstGeom>
          <a:solidFill>
            <a:srgbClr val="2E4756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3447288" y="2628900"/>
            <a:ext cx="2249424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3E7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9E3E7"/>
                </a:solidFill>
                <a:latin typeface="Calibri"/>
                <a:ea typeface="Calibri"/>
                <a:cs typeface="Calibri"/>
                <a:sym typeface="Calibri"/>
              </a:rPr>
              <a:t>decides what evidence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3E7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9E3E7"/>
                </a:solidFill>
                <a:latin typeface="Calibri"/>
                <a:ea typeface="Calibri"/>
                <a:cs typeface="Calibri"/>
                <a:sym typeface="Calibri"/>
              </a:rPr>
              <a:t>it needs . </a:t>
            </a:r>
            <a:r>
              <a:rPr lang="en-US" sz="1050">
                <a:solidFill>
                  <a:srgbClr val="D9E3E7"/>
                </a:solidFill>
                <a:latin typeface="Calibri"/>
                <a:ea typeface="Calibri"/>
                <a:cs typeface="Calibri"/>
                <a:sym typeface="Calibri"/>
              </a:rPr>
              <a:t>gpt-4.1-mini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5"/>
          <p:cNvCxnSpPr/>
          <p:nvPr/>
        </p:nvCxnSpPr>
        <p:spPr>
          <a:xfrm>
            <a:off x="5806440" y="3131820"/>
            <a:ext cx="502920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" name="Google Shape;70;p5"/>
          <p:cNvCxnSpPr/>
          <p:nvPr/>
        </p:nvCxnSpPr>
        <p:spPr>
          <a:xfrm>
            <a:off x="5806440" y="4000500"/>
            <a:ext cx="502920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" name="Google Shape;71;p5"/>
          <p:cNvSpPr/>
          <p:nvPr/>
        </p:nvSpPr>
        <p:spPr>
          <a:xfrm>
            <a:off x="6309360" y="2834640"/>
            <a:ext cx="2331720" cy="594360"/>
          </a:xfrm>
          <a:prstGeom prst="roundRect">
            <a:avLst>
              <a:gd fmla="val 13846" name="adj"/>
            </a:avLst>
          </a:prstGeom>
          <a:solidFill>
            <a:srgbClr val="F7F9FA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6400800" y="2834640"/>
            <a:ext cx="2148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A8C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5B7A8C"/>
                </a:solidFill>
                <a:latin typeface="Calibri"/>
                <a:ea typeface="Calibri"/>
                <a:cs typeface="Calibri"/>
                <a:sym typeface="Calibri"/>
              </a:rPr>
              <a:t>Manuals (RAG)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309360" y="3703320"/>
            <a:ext cx="2331720" cy="594360"/>
          </a:xfrm>
          <a:prstGeom prst="roundRect">
            <a:avLst>
              <a:gd fmla="val 13846" name="adj"/>
            </a:avLst>
          </a:prstGeom>
          <a:solidFill>
            <a:srgbClr val="F7F9FA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6400800" y="3703320"/>
            <a:ext cx="2148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A8C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5B7A8C"/>
                </a:solidFill>
                <a:latin typeface="Calibri"/>
                <a:ea typeface="Calibri"/>
                <a:cs typeface="Calibri"/>
                <a:sym typeface="Calibri"/>
              </a:rPr>
              <a:t>Maintenance History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5"/>
          <p:cNvCxnSpPr/>
          <p:nvPr/>
        </p:nvCxnSpPr>
        <p:spPr>
          <a:xfrm>
            <a:off x="8641080" y="3131820"/>
            <a:ext cx="502920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" name="Google Shape;76;p5"/>
          <p:cNvCxnSpPr/>
          <p:nvPr/>
        </p:nvCxnSpPr>
        <p:spPr>
          <a:xfrm>
            <a:off x="8641080" y="4000500"/>
            <a:ext cx="502920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" name="Google Shape;77;p5"/>
          <p:cNvSpPr/>
          <p:nvPr/>
        </p:nvSpPr>
        <p:spPr>
          <a:xfrm>
            <a:off x="9144000" y="2628900"/>
            <a:ext cx="2148840" cy="1874520"/>
          </a:xfrm>
          <a:prstGeom prst="roundRect">
            <a:avLst>
              <a:gd fmla="val 4390" name="adj"/>
            </a:avLst>
          </a:prstGeom>
          <a:solidFill>
            <a:srgbClr val="FBEAD0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9253728" y="2628900"/>
            <a:ext cx="1929384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8A5A0E"/>
                </a:solidFill>
                <a:latin typeface="Calibri"/>
                <a:ea typeface="Calibri"/>
                <a:cs typeface="Calibri"/>
                <a:sym typeface="Calibri"/>
              </a:rPr>
              <a:t>Safety-checked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8A5A0E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A5A0E"/>
                </a:solidFill>
                <a:latin typeface="Calibri"/>
                <a:ea typeface="Calibri"/>
                <a:cs typeface="Calibri"/>
                <a:sym typeface="Calibri"/>
              </a:rPr>
              <a:t>with citations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The Factory Floor  ·  Industrial Maintenance Copilot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E2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08E24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Real Manuals, Not Synthetic Text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548640" y="210312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4600"/>
              <a:buFont typeface="Cambria"/>
              <a:buNone/>
            </a:pPr>
            <a:r>
              <a:rPr b="1" lang="en-US" sz="4600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548640" y="29718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official Siemens manuals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(VFDs + electric motors)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4297680" y="210312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4600"/>
              <a:buFont typeface="Cambria"/>
              <a:buNone/>
            </a:pPr>
            <a:r>
              <a:rPr b="1" lang="en-US" sz="4600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3,679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4297680" y="29718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pages extracted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page by page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8046720" y="210312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8E24"/>
              </a:buClr>
              <a:buSzPts val="4600"/>
              <a:buFont typeface="Cambria"/>
              <a:buNone/>
            </a:pPr>
            <a:r>
              <a:rPr b="1" lang="en-US" sz="4600">
                <a:solidFill>
                  <a:srgbClr val="E08E24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8046720" y="29718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equipment types tracked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in metadata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48640" y="4343400"/>
            <a:ext cx="11091672" cy="1371600"/>
          </a:xfrm>
          <a:prstGeom prst="roundRect">
            <a:avLst>
              <a:gd fmla="val 5333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868680" y="4526280"/>
            <a:ext cx="10424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2E4756"/>
                </a:solidFill>
                <a:latin typeface="Courier New"/>
                <a:ea typeface="Courier New"/>
                <a:cs typeface="Courier New"/>
                <a:sym typeface="Courier New"/>
              </a:rPr>
              <a:t>manual_sources.csv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Tags each manual as VFD or motor.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That's what lets the app search only the manuals that matter.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The Factory Floor  ·  Industrial Maintenance Copilot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E2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08E24"/>
                </a:solidFill>
                <a:latin typeface="Calibri"/>
                <a:ea typeface="Calibri"/>
                <a:cs typeface="Calibri"/>
                <a:sym typeface="Calibri"/>
              </a:rPr>
              <a:t>DATA PIPELINE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From PDF to Searchable Vectors — Once, Offline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548640" y="2286000"/>
            <a:ext cx="1965960" cy="1051560"/>
          </a:xfrm>
          <a:prstGeom prst="roundRect">
            <a:avLst>
              <a:gd fmla="val 7826" name="adj"/>
            </a:avLst>
          </a:prstGeom>
          <a:solidFill>
            <a:srgbClr val="EEF3F5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658368" y="2286000"/>
            <a:ext cx="174650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PDFs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11 manuals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1348740" y="1847088"/>
            <a:ext cx="365760" cy="365760"/>
          </a:xfrm>
          <a:prstGeom prst="ellipse">
            <a:avLst/>
          </a:prstGeom>
          <a:solidFill>
            <a:srgbClr val="5B7A8C"/>
          </a:solidFill>
          <a:ln>
            <a:noFill/>
          </a:ln>
          <a:effectLst>
            <a:outerShdw blurRad="76200" rotWithShape="0" algn="bl" dir="5400000" dist="25400">
              <a:srgbClr val="1B2A33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1348740" y="18470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7"/>
          <p:cNvCxnSpPr/>
          <p:nvPr/>
        </p:nvCxnSpPr>
        <p:spPr>
          <a:xfrm>
            <a:off x="2542032" y="2811780"/>
            <a:ext cx="201168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0" name="Google Shape;110;p7"/>
          <p:cNvSpPr/>
          <p:nvPr/>
        </p:nvSpPr>
        <p:spPr>
          <a:xfrm>
            <a:off x="2770632" y="2286000"/>
            <a:ext cx="1965960" cy="1051560"/>
          </a:xfrm>
          <a:prstGeom prst="roundRect">
            <a:avLst>
              <a:gd fmla="val 7826" name="adj"/>
            </a:avLst>
          </a:prstGeom>
          <a:solidFill>
            <a:srgbClr val="EEF3F5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2880360" y="2286000"/>
            <a:ext cx="174650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3,679 extracted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3570732" y="1847088"/>
            <a:ext cx="365760" cy="365760"/>
          </a:xfrm>
          <a:prstGeom prst="ellipse">
            <a:avLst/>
          </a:prstGeom>
          <a:solidFill>
            <a:srgbClr val="5B7A8C"/>
          </a:solidFill>
          <a:ln>
            <a:noFill/>
          </a:ln>
          <a:effectLst>
            <a:outerShdw blurRad="76200" rotWithShape="0" algn="bl" dir="5400000" dist="25400">
              <a:srgbClr val="1B2A33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3570732" y="18470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7"/>
          <p:cNvCxnSpPr/>
          <p:nvPr/>
        </p:nvCxnSpPr>
        <p:spPr>
          <a:xfrm>
            <a:off x="4764024" y="2811780"/>
            <a:ext cx="201168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" name="Google Shape;115;p7"/>
          <p:cNvSpPr/>
          <p:nvPr/>
        </p:nvSpPr>
        <p:spPr>
          <a:xfrm>
            <a:off x="4992624" y="2286000"/>
            <a:ext cx="1965960" cy="1051560"/>
          </a:xfrm>
          <a:prstGeom prst="roundRect">
            <a:avLst>
              <a:gd fmla="val 7826" name="adj"/>
            </a:avLst>
          </a:prstGeom>
          <a:solidFill>
            <a:srgbClr val="EEF3F5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5102352" y="2286000"/>
            <a:ext cx="174650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Chunks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800 chars · 120 overlap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→ 12,301 chunks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792724" y="1847088"/>
            <a:ext cx="365760" cy="365760"/>
          </a:xfrm>
          <a:prstGeom prst="ellipse">
            <a:avLst/>
          </a:prstGeom>
          <a:solidFill>
            <a:srgbClr val="5B7A8C"/>
          </a:solidFill>
          <a:ln>
            <a:noFill/>
          </a:ln>
          <a:effectLst>
            <a:outerShdw blurRad="76200" rotWithShape="0" algn="bl" dir="5400000" dist="25400">
              <a:srgbClr val="1B2A33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5792724" y="18470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7"/>
          <p:cNvCxnSpPr/>
          <p:nvPr/>
        </p:nvCxnSpPr>
        <p:spPr>
          <a:xfrm>
            <a:off x="6986016" y="2811780"/>
            <a:ext cx="201168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" name="Google Shape;120;p7"/>
          <p:cNvSpPr/>
          <p:nvPr/>
        </p:nvSpPr>
        <p:spPr>
          <a:xfrm>
            <a:off x="7214616" y="2286000"/>
            <a:ext cx="1965960" cy="1051560"/>
          </a:xfrm>
          <a:prstGeom prst="roundRect">
            <a:avLst>
              <a:gd fmla="val 7826" name="adj"/>
            </a:avLst>
          </a:prstGeom>
          <a:solidFill>
            <a:srgbClr val="EEF3F5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7324344" y="2286000"/>
            <a:ext cx="174650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text-embedding-3-small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1536 dimensions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8014716" y="1847088"/>
            <a:ext cx="365760" cy="365760"/>
          </a:xfrm>
          <a:prstGeom prst="ellipse">
            <a:avLst/>
          </a:prstGeom>
          <a:solidFill>
            <a:srgbClr val="5B7A8C"/>
          </a:solidFill>
          <a:ln>
            <a:noFill/>
          </a:ln>
          <a:effectLst>
            <a:outerShdw blurRad="76200" rotWithShape="0" algn="bl" dir="5400000" dist="25400">
              <a:srgbClr val="1B2A33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8014716" y="18470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7"/>
          <p:cNvCxnSpPr/>
          <p:nvPr/>
        </p:nvCxnSpPr>
        <p:spPr>
          <a:xfrm>
            <a:off x="9208008" y="2811780"/>
            <a:ext cx="201168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5" name="Google Shape;125;p7"/>
          <p:cNvSpPr/>
          <p:nvPr/>
        </p:nvSpPr>
        <p:spPr>
          <a:xfrm>
            <a:off x="9436608" y="2286000"/>
            <a:ext cx="1965960" cy="1051560"/>
          </a:xfrm>
          <a:prstGeom prst="roundRect">
            <a:avLst>
              <a:gd fmla="val 7826" name="adj"/>
            </a:avLst>
          </a:prstGeom>
          <a:solidFill>
            <a:srgbClr val="FBEAD0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9546336" y="2286000"/>
            <a:ext cx="174650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E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8A5A0E"/>
                </a:solidFill>
                <a:latin typeface="Calibri"/>
                <a:ea typeface="Calibri"/>
                <a:cs typeface="Calibri"/>
                <a:sym typeface="Calibri"/>
              </a:rPr>
              <a:t>Chroma</a:t>
            </a:r>
            <a:br>
              <a:rPr b="1" lang="en-US" sz="1400">
                <a:solidFill>
                  <a:srgbClr val="8A5A0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400">
                <a:solidFill>
                  <a:srgbClr val="8A5A0E"/>
                </a:solidFill>
                <a:latin typeface="Calibri"/>
                <a:ea typeface="Calibri"/>
                <a:cs typeface="Calibri"/>
                <a:sym typeface="Calibri"/>
              </a:rPr>
              <a:t> Vector store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10236708" y="1847088"/>
            <a:ext cx="365760" cy="365760"/>
          </a:xfrm>
          <a:prstGeom prst="ellipse">
            <a:avLst/>
          </a:prstGeom>
          <a:solidFill>
            <a:srgbClr val="5B7A8C"/>
          </a:solidFill>
          <a:ln>
            <a:noFill/>
          </a:ln>
          <a:effectLst>
            <a:outerShdw blurRad="76200" rotWithShape="0" algn="bl" dir="5400000" dist="25400">
              <a:srgbClr val="1B2A33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10236708" y="18470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48640" y="3977640"/>
            <a:ext cx="11091672" cy="1600200"/>
          </a:xfrm>
          <a:prstGeom prst="roundRect">
            <a:avLst>
              <a:gd fmla="val 4571" name="adj"/>
            </a:avLst>
          </a:prstGeom>
          <a:solidFill>
            <a:srgbClr val="F7F9FA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868680" y="4160520"/>
            <a:ext cx="10424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800 characters, with overlap ?</a:t>
            </a:r>
            <a:b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Splits happen at natural breaks — paragraphs, then lines, then sentences — never mid-word if it can help it. The overlap makes sure no sentence gets cut in half and lost.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The Factory Floor  ·  Industrial Maintenance Copilot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E2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08E24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Three Layers Before a Chunk Is Trusted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48640" y="3217025"/>
            <a:ext cx="1554480" cy="822960"/>
          </a:xfrm>
          <a:prstGeom prst="roundRect">
            <a:avLst>
              <a:gd fmla="val 10000" name="adj"/>
            </a:avLst>
          </a:prstGeom>
          <a:solidFill>
            <a:srgbClr val="2E4756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640080" y="3217025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2606040" y="3079865"/>
            <a:ext cx="1828800" cy="1097280"/>
          </a:xfrm>
          <a:prstGeom prst="diamond">
            <a:avLst/>
          </a:prstGeom>
          <a:solidFill>
            <a:srgbClr val="FBEAD0"/>
          </a:solidFill>
          <a:ln cap="flat" cmpd="sng" w="15875">
            <a:solidFill>
              <a:srgbClr val="E08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2606040" y="3079865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Fault code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in the text?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892040" y="1936865"/>
            <a:ext cx="2286000" cy="777240"/>
          </a:xfrm>
          <a:prstGeom prst="roundRect">
            <a:avLst>
              <a:gd fmla="val 10588" name="adj"/>
            </a:avLst>
          </a:prstGeom>
          <a:solidFill>
            <a:srgbClr val="FBEAD0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5001768" y="1936865"/>
            <a:ext cx="206654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E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8A5A0E"/>
                </a:solidFill>
                <a:latin typeface="Calibri"/>
                <a:ea typeface="Calibri"/>
                <a:cs typeface="Calibri"/>
                <a:sym typeface="Calibri"/>
              </a:rPr>
              <a:t>Exact lookup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E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5A0E"/>
                </a:solidFill>
                <a:latin typeface="Calibri"/>
                <a:ea typeface="Calibri"/>
                <a:cs typeface="Calibri"/>
                <a:sym typeface="Calibri"/>
              </a:rPr>
              <a:t>literal text match in Chroma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E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5A0E"/>
                </a:solidFill>
                <a:latin typeface="Calibri"/>
                <a:ea typeface="Calibri"/>
                <a:cs typeface="Calibri"/>
                <a:sym typeface="Calibri"/>
              </a:rPr>
              <a:t>no embedding needed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892040" y="4497185"/>
            <a:ext cx="2286000" cy="777240"/>
          </a:xfrm>
          <a:prstGeom prst="roundRect">
            <a:avLst>
              <a:gd fmla="val 10588" name="adj"/>
            </a:avLst>
          </a:prstGeom>
          <a:solidFill>
            <a:srgbClr val="EEF3F5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5001768" y="4497185"/>
            <a:ext cx="206654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Semantic search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Euclidian distance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15 candidates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7635240" y="3262745"/>
            <a:ext cx="1965960" cy="914400"/>
          </a:xfrm>
          <a:prstGeom prst="roundRect">
            <a:avLst>
              <a:gd fmla="val 9000" name="adj"/>
            </a:avLst>
          </a:prstGeom>
          <a:solidFill>
            <a:srgbClr val="2E4756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7744968" y="3262745"/>
            <a:ext cx="174650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Rerank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3E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9E3E7"/>
                </a:solidFill>
                <a:latin typeface="Calibri"/>
                <a:ea typeface="Calibri"/>
                <a:cs typeface="Calibri"/>
                <a:sym typeface="Calibri"/>
              </a:rPr>
              <a:t>1 LLM call orders 15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3E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9E3E7"/>
                </a:solidFill>
                <a:latin typeface="Calibri"/>
                <a:ea typeface="Calibri"/>
                <a:cs typeface="Calibri"/>
                <a:sym typeface="Calibri"/>
              </a:rPr>
              <a:t>→ keeps top 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8"/>
          <p:cNvCxnSpPr/>
          <p:nvPr/>
        </p:nvCxnSpPr>
        <p:spPr>
          <a:xfrm>
            <a:off x="9628632" y="3719945"/>
            <a:ext cx="365760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1" name="Google Shape;151;p8"/>
          <p:cNvSpPr/>
          <p:nvPr/>
        </p:nvSpPr>
        <p:spPr>
          <a:xfrm>
            <a:off x="10012680" y="3153017"/>
            <a:ext cx="1737360" cy="1133856"/>
          </a:xfrm>
          <a:prstGeom prst="roundRect">
            <a:avLst>
              <a:gd fmla="val 7258" name="adj"/>
            </a:avLst>
          </a:prstGeom>
          <a:solidFill>
            <a:srgbClr val="F7F9FA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10104120" y="3153017"/>
            <a:ext cx="155448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A8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5B7A8C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A8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5B7A8C"/>
                </a:solidFill>
                <a:latin typeface="Calibri"/>
                <a:ea typeface="Calibri"/>
                <a:cs typeface="Calibri"/>
                <a:sym typeface="Calibri"/>
              </a:rPr>
              <a:t>for Agent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The Factory Floor  ·  Industrial Maintenance Copilot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8"/>
          <p:cNvCxnSpPr/>
          <p:nvPr/>
        </p:nvCxnSpPr>
        <p:spPr>
          <a:xfrm>
            <a:off x="4434840" y="3354185"/>
            <a:ext cx="1508760" cy="0"/>
          </a:xfrm>
          <a:prstGeom prst="straightConnector1">
            <a:avLst/>
          </a:prstGeom>
          <a:noFill/>
          <a:ln cap="flat" cmpd="sng" w="22225">
            <a:solidFill>
              <a:srgbClr val="E08E2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56" name="Google Shape;156;p8"/>
          <p:cNvCxnSpPr/>
          <p:nvPr/>
        </p:nvCxnSpPr>
        <p:spPr>
          <a:xfrm>
            <a:off x="5943600" y="2714105"/>
            <a:ext cx="0" cy="640080"/>
          </a:xfrm>
          <a:prstGeom prst="straightConnector1">
            <a:avLst/>
          </a:prstGeom>
          <a:noFill/>
          <a:ln cap="flat" cmpd="sng" w="22225">
            <a:solidFill>
              <a:srgbClr val="E08E24"/>
            </a:solidFill>
            <a:prstDash val="solid"/>
            <a:miter lim="8000"/>
            <a:headEnd len="med" w="med" type="triangle"/>
            <a:tailEnd len="sm" w="sm" type="none"/>
          </a:ln>
        </p:spPr>
      </p:cxnSp>
      <p:cxnSp>
        <p:nvCxnSpPr>
          <p:cNvPr id="157" name="Google Shape;157;p8"/>
          <p:cNvCxnSpPr/>
          <p:nvPr/>
        </p:nvCxnSpPr>
        <p:spPr>
          <a:xfrm>
            <a:off x="4434840" y="3902825"/>
            <a:ext cx="1508760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58" name="Google Shape;158;p8"/>
          <p:cNvCxnSpPr/>
          <p:nvPr/>
        </p:nvCxnSpPr>
        <p:spPr>
          <a:xfrm>
            <a:off x="5943600" y="3902825"/>
            <a:ext cx="0" cy="594359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59" name="Google Shape;159;p8"/>
          <p:cNvCxnSpPr/>
          <p:nvPr/>
        </p:nvCxnSpPr>
        <p:spPr>
          <a:xfrm>
            <a:off x="7178040" y="2325485"/>
            <a:ext cx="685800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60" name="Google Shape;160;p8"/>
          <p:cNvCxnSpPr/>
          <p:nvPr/>
        </p:nvCxnSpPr>
        <p:spPr>
          <a:xfrm>
            <a:off x="7863840" y="2325485"/>
            <a:ext cx="0" cy="937259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61" name="Google Shape;161;p8"/>
          <p:cNvCxnSpPr/>
          <p:nvPr/>
        </p:nvCxnSpPr>
        <p:spPr>
          <a:xfrm>
            <a:off x="7178040" y="4885805"/>
            <a:ext cx="685800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62" name="Google Shape;162;p8"/>
          <p:cNvCxnSpPr/>
          <p:nvPr/>
        </p:nvCxnSpPr>
        <p:spPr>
          <a:xfrm>
            <a:off x="7863840" y="4177145"/>
            <a:ext cx="0" cy="70866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miter lim="8000"/>
            <a:headEnd len="med" w="med" type="triangle"/>
            <a:tailEnd len="sm" w="sm" type="none"/>
          </a:ln>
        </p:spPr>
      </p:cxnSp>
      <p:sp>
        <p:nvSpPr>
          <p:cNvPr id="163" name="Google Shape;163;p8"/>
          <p:cNvSpPr txBox="1"/>
          <p:nvPr/>
        </p:nvSpPr>
        <p:spPr>
          <a:xfrm>
            <a:off x="4617730" y="3107300"/>
            <a:ext cx="935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E08E24"/>
                </a:solidFill>
                <a:latin typeface="Calibri"/>
                <a:ea typeface="Calibri"/>
                <a:cs typeface="Calibri"/>
                <a:sym typeface="Calibri"/>
              </a:rPr>
              <a:t>yes . “F30805”</a:t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4617731" y="3619350"/>
            <a:ext cx="1001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no . “Text”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E2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08E24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The Model Decides What Evidence It Needs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2194560" y="1714500"/>
            <a:ext cx="2286000" cy="868680"/>
          </a:xfrm>
          <a:prstGeom prst="roundRect">
            <a:avLst>
              <a:gd fmla="val 9474" name="adj"/>
            </a:avLst>
          </a:prstGeom>
          <a:solidFill>
            <a:srgbClr val="F7F9FA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2304288" y="1714500"/>
            <a:ext cx="206654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Final answer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no more tools needed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983480" y="1691640"/>
            <a:ext cx="2103120" cy="914400"/>
          </a:xfrm>
          <a:prstGeom prst="diamond">
            <a:avLst/>
          </a:prstGeom>
          <a:solidFill>
            <a:srgbClr val="FBEAD0"/>
          </a:solidFill>
          <a:ln cap="flat" cmpd="sng" w="15875">
            <a:solidFill>
              <a:srgbClr val="E08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4983480" y="169164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Needs more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evidence?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7589520" y="1714500"/>
            <a:ext cx="2286000" cy="868680"/>
          </a:xfrm>
          <a:prstGeom prst="roundRect">
            <a:avLst>
              <a:gd fmla="val 9474" name="adj"/>
            </a:avLst>
          </a:prstGeom>
          <a:solidFill>
            <a:srgbClr val="FBEAD0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7699248" y="1714500"/>
            <a:ext cx="206654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E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8A5A0E"/>
                </a:solidFill>
                <a:latin typeface="Calibri"/>
                <a:ea typeface="Calibri"/>
                <a:cs typeface="Calibri"/>
                <a:sym typeface="Calibri"/>
              </a:rPr>
              <a:t>Call a tool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E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5A0E"/>
                </a:solidFill>
                <a:latin typeface="Calibri"/>
                <a:ea typeface="Calibri"/>
                <a:cs typeface="Calibri"/>
                <a:sym typeface="Calibri"/>
              </a:rPr>
              <a:t>search_manuals /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E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5A0E"/>
                </a:solidFill>
                <a:latin typeface="Calibri"/>
                <a:ea typeface="Calibri"/>
                <a:cs typeface="Calibri"/>
                <a:sym typeface="Calibri"/>
              </a:rPr>
              <a:t>get_maintenance_history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9"/>
          <p:cNvCxnSpPr/>
          <p:nvPr/>
        </p:nvCxnSpPr>
        <p:spPr>
          <a:xfrm>
            <a:off x="4480560" y="2148840"/>
            <a:ext cx="502920" cy="0"/>
          </a:xfrm>
          <a:prstGeom prst="straightConnector1">
            <a:avLst/>
          </a:prstGeom>
          <a:noFill/>
          <a:ln cap="flat" cmpd="sng" w="22225">
            <a:solidFill>
              <a:srgbClr val="5B7A8C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79" name="Google Shape;179;p9"/>
          <p:cNvSpPr txBox="1"/>
          <p:nvPr/>
        </p:nvSpPr>
        <p:spPr>
          <a:xfrm>
            <a:off x="4617720" y="183794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8C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B7A8C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9"/>
          <p:cNvCxnSpPr/>
          <p:nvPr/>
        </p:nvCxnSpPr>
        <p:spPr>
          <a:xfrm>
            <a:off x="7086600" y="2148840"/>
            <a:ext cx="502920" cy="0"/>
          </a:xfrm>
          <a:prstGeom prst="straightConnector1">
            <a:avLst/>
          </a:prstGeom>
          <a:noFill/>
          <a:ln cap="flat" cmpd="sng" w="22225">
            <a:solidFill>
              <a:srgbClr val="E08E2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1" name="Google Shape;181;p9"/>
          <p:cNvSpPr txBox="1"/>
          <p:nvPr/>
        </p:nvSpPr>
        <p:spPr>
          <a:xfrm>
            <a:off x="7205472" y="183794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E24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E08E24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9"/>
          <p:cNvCxnSpPr/>
          <p:nvPr/>
        </p:nvCxnSpPr>
        <p:spPr>
          <a:xfrm>
            <a:off x="6035040" y="2606040"/>
            <a:ext cx="0" cy="82296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83" name="Google Shape;183;p9"/>
          <p:cNvCxnSpPr/>
          <p:nvPr/>
        </p:nvCxnSpPr>
        <p:spPr>
          <a:xfrm>
            <a:off x="8732520" y="2583180"/>
            <a:ext cx="0" cy="84582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9"/>
          <p:cNvCxnSpPr/>
          <p:nvPr/>
        </p:nvCxnSpPr>
        <p:spPr>
          <a:xfrm>
            <a:off x="6858000" y="3429000"/>
            <a:ext cx="1874520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85" name="Google Shape;185;p9"/>
          <p:cNvSpPr/>
          <p:nvPr/>
        </p:nvSpPr>
        <p:spPr>
          <a:xfrm>
            <a:off x="548640" y="3566160"/>
            <a:ext cx="1920240" cy="731520"/>
          </a:xfrm>
          <a:prstGeom prst="roundRect">
            <a:avLst>
              <a:gd fmla="val 11250" name="adj"/>
            </a:avLst>
          </a:prstGeom>
          <a:solidFill>
            <a:srgbClr val="EEF3F5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640080" y="356616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Question +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9"/>
          <p:cNvCxnSpPr/>
          <p:nvPr/>
        </p:nvCxnSpPr>
        <p:spPr>
          <a:xfrm>
            <a:off x="2468880" y="3931920"/>
            <a:ext cx="2331720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8" name="Google Shape;188;p9"/>
          <p:cNvSpPr/>
          <p:nvPr/>
        </p:nvSpPr>
        <p:spPr>
          <a:xfrm>
            <a:off x="4800600" y="3429000"/>
            <a:ext cx="2468880" cy="1005840"/>
          </a:xfrm>
          <a:prstGeom prst="roundRect">
            <a:avLst>
              <a:gd fmla="val 8182" name="adj"/>
            </a:avLst>
          </a:prstGeom>
          <a:solidFill>
            <a:srgbClr val="2E4756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4910328" y="3429000"/>
            <a:ext cx="224942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3E7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9E3E7"/>
                </a:solidFill>
                <a:latin typeface="Calibri"/>
                <a:ea typeface="Calibri"/>
                <a:cs typeface="Calibri"/>
                <a:sym typeface="Calibri"/>
              </a:rPr>
              <a:t>gpt-4.1-mini · temperature 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fmla="val 10667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This is OpenAI function calling inside a LangGraph ReAct loop — not free text, a structured decision the model makes on every turn.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The Factory Floor  ·  Industrial Maintenance Copilot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E2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08E24"/>
                </a:solidFill>
                <a:latin typeface="Calibri"/>
                <a:ea typeface="Calibri"/>
                <a:cs typeface="Calibri"/>
                <a:sym typeface="Calibri"/>
              </a:rPr>
              <a:t>SAFETY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Precautions Come Before Actions — Always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548640" y="2651760"/>
            <a:ext cx="1737360" cy="822960"/>
          </a:xfrm>
          <a:prstGeom prst="roundRect">
            <a:avLst>
              <a:gd fmla="val 10000" name="adj"/>
            </a:avLst>
          </a:prstGeom>
          <a:solidFill>
            <a:srgbClr val="EEF3F5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640080" y="2651760"/>
            <a:ext cx="1554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Draft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10"/>
          <p:cNvCxnSpPr/>
          <p:nvPr/>
        </p:nvCxnSpPr>
        <p:spPr>
          <a:xfrm>
            <a:off x="2286000" y="3063240"/>
            <a:ext cx="320040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4" name="Google Shape;204;p10"/>
          <p:cNvSpPr/>
          <p:nvPr/>
        </p:nvSpPr>
        <p:spPr>
          <a:xfrm>
            <a:off x="2606040" y="2514600"/>
            <a:ext cx="2103120" cy="1097280"/>
          </a:xfrm>
          <a:prstGeom prst="diamond">
            <a:avLst/>
          </a:prstGeom>
          <a:solidFill>
            <a:srgbClr val="FBEAD0"/>
          </a:solidFill>
          <a:ln cap="flat" cmpd="sng" w="15875">
            <a:solidFill>
              <a:srgbClr val="E08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2606040" y="251460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Recommends 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physical action?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10"/>
          <p:cNvCxnSpPr/>
          <p:nvPr/>
        </p:nvCxnSpPr>
        <p:spPr>
          <a:xfrm>
            <a:off x="4709160" y="3063240"/>
            <a:ext cx="320040" cy="0"/>
          </a:xfrm>
          <a:prstGeom prst="straightConnector1">
            <a:avLst/>
          </a:prstGeom>
          <a:noFill/>
          <a:ln cap="flat" cmpd="sng" w="22225">
            <a:solidFill>
              <a:srgbClr val="E08E2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7" name="Google Shape;207;p10"/>
          <p:cNvSpPr txBox="1"/>
          <p:nvPr/>
        </p:nvSpPr>
        <p:spPr>
          <a:xfrm>
            <a:off x="4764024" y="275234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E24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E08E24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5029200" y="2651760"/>
            <a:ext cx="2103120" cy="822960"/>
          </a:xfrm>
          <a:prstGeom prst="roundRect">
            <a:avLst>
              <a:gd fmla="val 10000" name="adj"/>
            </a:avLst>
          </a:prstGeom>
          <a:solidFill>
            <a:srgbClr val="2E4756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 txBox="1"/>
          <p:nvPr/>
        </p:nvSpPr>
        <p:spPr>
          <a:xfrm>
            <a:off x="5138928" y="2651760"/>
            <a:ext cx="18836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safety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judge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3E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9E3E7"/>
                </a:solidFill>
                <a:latin typeface="Calibri"/>
                <a:ea typeface="Calibri"/>
                <a:cs typeface="Calibri"/>
                <a:sym typeface="Calibri"/>
              </a:rPr>
              <a:t>structured audit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10"/>
          <p:cNvCxnSpPr/>
          <p:nvPr/>
        </p:nvCxnSpPr>
        <p:spPr>
          <a:xfrm>
            <a:off x="7132320" y="3063240"/>
            <a:ext cx="320040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1" name="Google Shape;211;p10"/>
          <p:cNvSpPr/>
          <p:nvPr/>
        </p:nvSpPr>
        <p:spPr>
          <a:xfrm>
            <a:off x="7452360" y="2514600"/>
            <a:ext cx="1920240" cy="1097280"/>
          </a:xfrm>
          <a:prstGeom prst="diamond">
            <a:avLst/>
          </a:prstGeom>
          <a:solidFill>
            <a:srgbClr val="FBEAD0"/>
          </a:solidFill>
          <a:ln cap="flat" cmpd="sng" w="15875">
            <a:solidFill>
              <a:srgbClr val="E08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7452360" y="2514600"/>
            <a:ext cx="1920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Passes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the audit?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10"/>
          <p:cNvCxnSpPr/>
          <p:nvPr/>
        </p:nvCxnSpPr>
        <p:spPr>
          <a:xfrm>
            <a:off x="9372600" y="3063240"/>
            <a:ext cx="320040" cy="0"/>
          </a:xfrm>
          <a:prstGeom prst="straightConnector1">
            <a:avLst/>
          </a:prstGeom>
          <a:noFill/>
          <a:ln cap="flat" cmpd="sng" w="22225">
            <a:solidFill>
              <a:srgbClr val="5B7A8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4" name="Google Shape;214;p10"/>
          <p:cNvSpPr txBox="1"/>
          <p:nvPr/>
        </p:nvSpPr>
        <p:spPr>
          <a:xfrm>
            <a:off x="9427464" y="275234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8C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B7A8C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9692640" y="2651760"/>
            <a:ext cx="1691640" cy="822960"/>
          </a:xfrm>
          <a:prstGeom prst="roundRect">
            <a:avLst>
              <a:gd fmla="val 10000" name="adj"/>
            </a:avLst>
          </a:prstGeom>
          <a:solidFill>
            <a:srgbClr val="F7F9FA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9784080" y="2651760"/>
            <a:ext cx="1508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Deliver as-is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10"/>
          <p:cNvCxnSpPr/>
          <p:nvPr/>
        </p:nvCxnSpPr>
        <p:spPr>
          <a:xfrm>
            <a:off x="3657600" y="1691640"/>
            <a:ext cx="0" cy="822960"/>
          </a:xfrm>
          <a:prstGeom prst="straightConnector1">
            <a:avLst/>
          </a:prstGeom>
          <a:noFill/>
          <a:ln cap="flat" cmpd="sng" w="22225">
            <a:solidFill>
              <a:srgbClr val="5B7A8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10"/>
          <p:cNvCxnSpPr/>
          <p:nvPr/>
        </p:nvCxnSpPr>
        <p:spPr>
          <a:xfrm>
            <a:off x="3657600" y="1691640"/>
            <a:ext cx="6880860" cy="0"/>
          </a:xfrm>
          <a:prstGeom prst="straightConnector1">
            <a:avLst/>
          </a:prstGeom>
          <a:noFill/>
          <a:ln cap="flat" cmpd="sng" w="22225">
            <a:solidFill>
              <a:srgbClr val="5B7A8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" name="Google Shape;219;p10"/>
          <p:cNvCxnSpPr/>
          <p:nvPr/>
        </p:nvCxnSpPr>
        <p:spPr>
          <a:xfrm>
            <a:off x="10538460" y="1691640"/>
            <a:ext cx="0" cy="960120"/>
          </a:xfrm>
          <a:prstGeom prst="straightConnector1">
            <a:avLst/>
          </a:prstGeom>
          <a:noFill/>
          <a:ln cap="flat" cmpd="sng" w="22225">
            <a:solidFill>
              <a:srgbClr val="5B7A8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0" name="Google Shape;220;p10"/>
          <p:cNvSpPr txBox="1"/>
          <p:nvPr/>
        </p:nvSpPr>
        <p:spPr>
          <a:xfrm>
            <a:off x="3200400" y="1399032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8C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B7A8C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10"/>
          <p:cNvCxnSpPr/>
          <p:nvPr/>
        </p:nvCxnSpPr>
        <p:spPr>
          <a:xfrm>
            <a:off x="8412480" y="3611880"/>
            <a:ext cx="0" cy="457200"/>
          </a:xfrm>
          <a:prstGeom prst="straightConnector1">
            <a:avLst/>
          </a:prstGeom>
          <a:noFill/>
          <a:ln cap="flat" cmpd="sng" w="22225">
            <a:solidFill>
              <a:srgbClr val="E08E2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2" name="Google Shape;222;p10"/>
          <p:cNvSpPr txBox="1"/>
          <p:nvPr/>
        </p:nvSpPr>
        <p:spPr>
          <a:xfrm>
            <a:off x="8485632" y="366674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E24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E08E24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7360920" y="4069080"/>
            <a:ext cx="2103120" cy="822960"/>
          </a:xfrm>
          <a:prstGeom prst="roundRect">
            <a:avLst>
              <a:gd fmla="val 10000" name="adj"/>
            </a:avLst>
          </a:prstGeom>
          <a:solidFill>
            <a:srgbClr val="FBEAD0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7470648" y="4069080"/>
            <a:ext cx="18836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E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8A5A0E"/>
                </a:solidFill>
                <a:latin typeface="Calibri"/>
                <a:ea typeface="Calibri"/>
                <a:cs typeface="Calibri"/>
                <a:sym typeface="Calibri"/>
              </a:rPr>
              <a:t>Rewrite &amp; Recheck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E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5A0E"/>
                </a:solidFill>
                <a:latin typeface="Calibri"/>
                <a:ea typeface="Calibri"/>
                <a:cs typeface="Calibri"/>
                <a:sym typeface="Calibri"/>
              </a:rPr>
              <a:t>reorder precautions,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E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5A0E"/>
                </a:solidFill>
                <a:latin typeface="Calibri"/>
                <a:ea typeface="Calibri"/>
                <a:cs typeface="Calibri"/>
                <a:sym typeface="Calibri"/>
              </a:rPr>
              <a:t>keep citations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10"/>
          <p:cNvCxnSpPr/>
          <p:nvPr/>
        </p:nvCxnSpPr>
        <p:spPr>
          <a:xfrm>
            <a:off x="9464040" y="4480560"/>
            <a:ext cx="457200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6" name="Google Shape;226;p10"/>
          <p:cNvSpPr/>
          <p:nvPr/>
        </p:nvSpPr>
        <p:spPr>
          <a:xfrm>
            <a:off x="9921240" y="4069080"/>
            <a:ext cx="2011680" cy="822960"/>
          </a:xfrm>
          <a:prstGeom prst="roundRect">
            <a:avLst>
              <a:gd fmla="val 10000" name="adj"/>
            </a:avLst>
          </a:prstGeom>
          <a:solidFill>
            <a:srgbClr val="EEF3F5"/>
          </a:solidFill>
          <a:ln cap="flat" cmpd="sng" w="12700">
            <a:solidFill>
              <a:srgbClr val="D9E3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10030968" y="4069080"/>
            <a:ext cx="17922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Fixed safe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fallback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used if the recheck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still fails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48640" y="5623560"/>
            <a:ext cx="11091672" cy="594360"/>
          </a:xfrm>
          <a:prstGeom prst="roundRect">
            <a:avLst>
              <a:gd fmla="val 12308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The rewrite is re-audited once by the same judge — the fallback only fires if that recheck still fails.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The Factory Floor  ·  Industrial Maintenance Copilot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 txBox="1"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10"/>
          <p:cNvCxnSpPr/>
          <p:nvPr/>
        </p:nvCxnSpPr>
        <p:spPr>
          <a:xfrm>
            <a:off x="9042400" y="3840480"/>
            <a:ext cx="0" cy="228600"/>
          </a:xfrm>
          <a:prstGeom prst="straightConnector1">
            <a:avLst/>
          </a:prstGeom>
          <a:noFill/>
          <a:ln cap="flat" cmpd="sng" w="22225">
            <a:solidFill>
              <a:srgbClr val="5B7A8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10"/>
          <p:cNvCxnSpPr/>
          <p:nvPr/>
        </p:nvCxnSpPr>
        <p:spPr>
          <a:xfrm>
            <a:off x="9042400" y="3840480"/>
            <a:ext cx="954024" cy="0"/>
          </a:xfrm>
          <a:prstGeom prst="straightConnector1">
            <a:avLst/>
          </a:prstGeom>
          <a:noFill/>
          <a:ln cap="flat" cmpd="sng" w="22225">
            <a:solidFill>
              <a:srgbClr val="5B7A8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10"/>
          <p:cNvCxnSpPr/>
          <p:nvPr/>
        </p:nvCxnSpPr>
        <p:spPr>
          <a:xfrm rot="10800000">
            <a:off x="9996424" y="3543300"/>
            <a:ext cx="0" cy="29718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5" name="Google Shape;235;p10"/>
          <p:cNvSpPr txBox="1"/>
          <p:nvPr/>
        </p:nvSpPr>
        <p:spPr>
          <a:xfrm>
            <a:off x="9541256" y="3593591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8C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B7A8C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 txBox="1"/>
          <p:nvPr/>
        </p:nvSpPr>
        <p:spPr>
          <a:xfrm>
            <a:off x="9573768" y="4480558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E24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E08E24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 txBox="1"/>
          <p:nvPr/>
        </p:nvSpPr>
        <p:spPr>
          <a:xfrm>
            <a:off x="548640" y="347472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E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08E24"/>
                </a:solidFill>
                <a:latin typeface="Calibri"/>
                <a:ea typeface="Calibri"/>
                <a:cs typeface="Calibri"/>
                <a:sym typeface="Calibri"/>
              </a:rPr>
              <a:t>UNDER THE HOOD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548640" y="603504"/>
            <a:ext cx="10789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Built Like a Product, Not a Demo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548640" y="1325880"/>
            <a:ext cx="1106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A few more things worth knowing are in here, even if there isn't time to open each one up.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548640" y="2057400"/>
            <a:ext cx="2580900" cy="1600200"/>
          </a:xfrm>
          <a:prstGeom prst="roundRect">
            <a:avLst>
              <a:gd fmla="val 4571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548640" y="2057400"/>
            <a:ext cx="54900" cy="1600200"/>
          </a:xfrm>
          <a:prstGeom prst="rect">
            <a:avLst/>
          </a:prstGeom>
          <a:solidFill>
            <a:srgbClr val="E08E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 txBox="1"/>
          <p:nvPr/>
        </p:nvSpPr>
        <p:spPr>
          <a:xfrm>
            <a:off x="749808" y="2221992"/>
            <a:ext cx="22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Operator login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 txBox="1"/>
          <p:nvPr/>
        </p:nvSpPr>
        <p:spPr>
          <a:xfrm>
            <a:off x="749808" y="2679192"/>
            <a:ext cx="2215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PIN-based identity, tied to every 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3385566" y="2057400"/>
            <a:ext cx="2580900" cy="1600200"/>
          </a:xfrm>
          <a:prstGeom prst="roundRect">
            <a:avLst>
              <a:gd fmla="val 4571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3385566" y="2057400"/>
            <a:ext cx="54900" cy="1600200"/>
          </a:xfrm>
          <a:prstGeom prst="rect">
            <a:avLst/>
          </a:prstGeom>
          <a:solidFill>
            <a:srgbClr val="E08E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 txBox="1"/>
          <p:nvPr/>
        </p:nvSpPr>
        <p:spPr>
          <a:xfrm>
            <a:off x="3586734" y="2221992"/>
            <a:ext cx="22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Tracing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 txBox="1"/>
          <p:nvPr/>
        </p:nvSpPr>
        <p:spPr>
          <a:xfrm>
            <a:off x="3586734" y="2679192"/>
            <a:ext cx="2215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Every run logged, step by step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6222492" y="2057400"/>
            <a:ext cx="2580900" cy="1600200"/>
          </a:xfrm>
          <a:prstGeom prst="roundRect">
            <a:avLst>
              <a:gd fmla="val 4571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6222492" y="2057400"/>
            <a:ext cx="54900" cy="1600200"/>
          </a:xfrm>
          <a:prstGeom prst="rect">
            <a:avLst/>
          </a:prstGeom>
          <a:solidFill>
            <a:srgbClr val="E08E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 txBox="1"/>
          <p:nvPr/>
        </p:nvSpPr>
        <p:spPr>
          <a:xfrm>
            <a:off x="6423660" y="2221992"/>
            <a:ext cx="22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PDF export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 txBox="1"/>
          <p:nvPr/>
        </p:nvSpPr>
        <p:spPr>
          <a:xfrm>
            <a:off x="6423660" y="2679192"/>
            <a:ext cx="2215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Download just the cited manual page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9059418" y="2057400"/>
            <a:ext cx="2580900" cy="1600200"/>
          </a:xfrm>
          <a:prstGeom prst="roundRect">
            <a:avLst>
              <a:gd fmla="val 4571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9059418" y="2057400"/>
            <a:ext cx="54900" cy="1600200"/>
          </a:xfrm>
          <a:prstGeom prst="rect">
            <a:avLst/>
          </a:prstGeom>
          <a:solidFill>
            <a:srgbClr val="E08E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 txBox="1"/>
          <p:nvPr/>
        </p:nvSpPr>
        <p:spPr>
          <a:xfrm>
            <a:off x="9260586" y="2221992"/>
            <a:ext cx="22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Resolution memory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 txBox="1"/>
          <p:nvPr/>
        </p:nvSpPr>
        <p:spPr>
          <a:xfrm>
            <a:off x="9260586" y="2679192"/>
            <a:ext cx="2215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What worked gets saved to the machine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548640" y="3931920"/>
            <a:ext cx="2580900" cy="1600200"/>
          </a:xfrm>
          <a:prstGeom prst="roundRect">
            <a:avLst>
              <a:gd fmla="val 4571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548640" y="3931920"/>
            <a:ext cx="54900" cy="1600200"/>
          </a:xfrm>
          <a:prstGeom prst="rect">
            <a:avLst/>
          </a:prstGeom>
          <a:solidFill>
            <a:srgbClr val="E08E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 txBox="1"/>
          <p:nvPr/>
        </p:nvSpPr>
        <p:spPr>
          <a:xfrm>
            <a:off x="749808" y="4096512"/>
            <a:ext cx="22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Email handoff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 txBox="1"/>
          <p:nvPr/>
        </p:nvSpPr>
        <p:spPr>
          <a:xfrm>
            <a:off x="749808" y="4553712"/>
            <a:ext cx="2215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One click sends the resolution to 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3385566" y="3931920"/>
            <a:ext cx="2580900" cy="1600200"/>
          </a:xfrm>
          <a:prstGeom prst="roundRect">
            <a:avLst>
              <a:gd fmla="val 4571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3385566" y="3931920"/>
            <a:ext cx="54900" cy="1600200"/>
          </a:xfrm>
          <a:prstGeom prst="rect">
            <a:avLst/>
          </a:prstGeom>
          <a:solidFill>
            <a:srgbClr val="E08E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 txBox="1"/>
          <p:nvPr/>
        </p:nvSpPr>
        <p:spPr>
          <a:xfrm>
            <a:off x="3586734" y="4096512"/>
            <a:ext cx="22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Multi-tenant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 txBox="1"/>
          <p:nvPr/>
        </p:nvSpPr>
        <p:spPr>
          <a:xfrm>
            <a:off x="3586734" y="4553712"/>
            <a:ext cx="2215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One deployment, several factories, kept separate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6222492" y="3931920"/>
            <a:ext cx="2580900" cy="1600200"/>
          </a:xfrm>
          <a:prstGeom prst="roundRect">
            <a:avLst>
              <a:gd fmla="val 4571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6222492" y="3931920"/>
            <a:ext cx="54900" cy="1600200"/>
          </a:xfrm>
          <a:prstGeom prst="rect">
            <a:avLst/>
          </a:prstGeom>
          <a:solidFill>
            <a:srgbClr val="E08E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 txBox="1"/>
          <p:nvPr/>
        </p:nvSpPr>
        <p:spPr>
          <a:xfrm>
            <a:off x="6423660" y="4096512"/>
            <a:ext cx="22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Daily spend cap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 txBox="1"/>
          <p:nvPr/>
        </p:nvSpPr>
        <p:spPr>
          <a:xfrm>
            <a:off x="6423660" y="4553712"/>
            <a:ext cx="2215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A budget the system won't cross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9059418" y="3931920"/>
            <a:ext cx="2580900" cy="1600200"/>
          </a:xfrm>
          <a:prstGeom prst="roundRect">
            <a:avLst>
              <a:gd fmla="val 4571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9059418" y="3931920"/>
            <a:ext cx="54900" cy="1600200"/>
          </a:xfrm>
          <a:prstGeom prst="rect">
            <a:avLst/>
          </a:prstGeom>
          <a:solidFill>
            <a:srgbClr val="E08E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 txBox="1"/>
          <p:nvPr/>
        </p:nvSpPr>
        <p:spPr>
          <a:xfrm>
            <a:off x="9260586" y="4096512"/>
            <a:ext cx="22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API + Docker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 txBox="1"/>
          <p:nvPr/>
        </p:nvSpPr>
        <p:spPr>
          <a:xfrm>
            <a:off x="9260586" y="4553712"/>
            <a:ext cx="2215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Deployable like a real product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 txBox="1"/>
          <p:nvPr/>
        </p:nvSpPr>
        <p:spPr>
          <a:xfrm>
            <a:off x="548640" y="651052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The Factory Floor  ·  Industrial Maintenance Copilot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E2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08E24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 txBox="1"/>
          <p:nvPr/>
        </p:nvSpPr>
        <p:spPr>
          <a:xfrm>
            <a:off x="548640" y="603504"/>
            <a:ext cx="10789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37 Real Scenarios, Scored the Same Way for Both Pipelines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The Factory Floor  ·  Industrial Maintenance Copilot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 txBox="1"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 txBox="1"/>
          <p:nvPr/>
        </p:nvSpPr>
        <p:spPr>
          <a:xfrm>
            <a:off x="452003" y="1350905"/>
            <a:ext cx="1106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Everything from here on compares these two. Same manuals, same retriever, same question.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 txBox="1"/>
          <p:nvPr/>
        </p:nvSpPr>
        <p:spPr>
          <a:xfrm>
            <a:off x="452003" y="1857435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7A8C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452002" y="2182008"/>
            <a:ext cx="2103000" cy="777300"/>
          </a:xfrm>
          <a:prstGeom prst="roundRect">
            <a:avLst>
              <a:gd fmla="val 10588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 txBox="1"/>
          <p:nvPr/>
        </p:nvSpPr>
        <p:spPr>
          <a:xfrm>
            <a:off x="543442" y="2182008"/>
            <a:ext cx="1920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12"/>
          <p:cNvCxnSpPr/>
          <p:nvPr/>
        </p:nvCxnSpPr>
        <p:spPr>
          <a:xfrm>
            <a:off x="2555123" y="2570628"/>
            <a:ext cx="777300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2" name="Google Shape;292;p12"/>
          <p:cNvSpPr/>
          <p:nvPr/>
        </p:nvSpPr>
        <p:spPr>
          <a:xfrm>
            <a:off x="3332363" y="2182008"/>
            <a:ext cx="2103000" cy="777300"/>
          </a:xfrm>
          <a:prstGeom prst="roundRect">
            <a:avLst>
              <a:gd fmla="val 10588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 txBox="1"/>
          <p:nvPr/>
        </p:nvSpPr>
        <p:spPr>
          <a:xfrm>
            <a:off x="3423803" y="2182008"/>
            <a:ext cx="1920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Search once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12"/>
          <p:cNvCxnSpPr/>
          <p:nvPr/>
        </p:nvCxnSpPr>
        <p:spPr>
          <a:xfrm>
            <a:off x="5435483" y="2570628"/>
            <a:ext cx="777300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5" name="Google Shape;295;p12"/>
          <p:cNvSpPr/>
          <p:nvPr/>
        </p:nvSpPr>
        <p:spPr>
          <a:xfrm>
            <a:off x="6212723" y="2182008"/>
            <a:ext cx="2103000" cy="777300"/>
          </a:xfrm>
          <a:prstGeom prst="roundRect">
            <a:avLst>
              <a:gd fmla="val 10588" name="adj"/>
            </a:avLst>
          </a:prstGeom>
          <a:solidFill>
            <a:srgbClr val="F7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 txBox="1"/>
          <p:nvPr/>
        </p:nvSpPr>
        <p:spPr>
          <a:xfrm>
            <a:off x="6304163" y="2182008"/>
            <a:ext cx="1920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 txBox="1"/>
          <p:nvPr/>
        </p:nvSpPr>
        <p:spPr>
          <a:xfrm>
            <a:off x="9449788" y="2172763"/>
            <a:ext cx="2290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One search, one answer. No tools. Can't check history. Can't ask a follow-up.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 txBox="1"/>
          <p:nvPr/>
        </p:nvSpPr>
        <p:spPr>
          <a:xfrm>
            <a:off x="470240" y="300967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E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08E24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470240" y="3393718"/>
            <a:ext cx="2103000" cy="777300"/>
          </a:xfrm>
          <a:prstGeom prst="roundRect">
            <a:avLst>
              <a:gd fmla="val 10588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 txBox="1"/>
          <p:nvPr/>
        </p:nvSpPr>
        <p:spPr>
          <a:xfrm>
            <a:off x="561680" y="3393718"/>
            <a:ext cx="1920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" name="Google Shape;301;p12"/>
          <p:cNvCxnSpPr/>
          <p:nvPr/>
        </p:nvCxnSpPr>
        <p:spPr>
          <a:xfrm>
            <a:off x="2573360" y="3782338"/>
            <a:ext cx="777300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2" name="Google Shape;302;p12"/>
          <p:cNvSpPr/>
          <p:nvPr/>
        </p:nvSpPr>
        <p:spPr>
          <a:xfrm>
            <a:off x="3350600" y="3393718"/>
            <a:ext cx="2926200" cy="777300"/>
          </a:xfrm>
          <a:prstGeom prst="roundRect">
            <a:avLst>
              <a:gd fmla="val 10588" name="adj"/>
            </a:avLst>
          </a:prstGeom>
          <a:solidFill>
            <a:srgbClr val="FBEA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 txBox="1"/>
          <p:nvPr/>
        </p:nvSpPr>
        <p:spPr>
          <a:xfrm>
            <a:off x="3442040" y="3393718"/>
            <a:ext cx="2743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A5A0E"/>
                </a:solidFill>
                <a:latin typeface="Calibri"/>
                <a:ea typeface="Calibri"/>
                <a:cs typeface="Calibri"/>
                <a:sym typeface="Calibri"/>
              </a:rPr>
              <a:t>Decides what it needs,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A5A0E"/>
                </a:solidFill>
                <a:latin typeface="Calibri"/>
                <a:ea typeface="Calibri"/>
                <a:cs typeface="Calibri"/>
                <a:sym typeface="Calibri"/>
              </a:rPr>
              <a:t>can repeat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12"/>
          <p:cNvCxnSpPr/>
          <p:nvPr/>
        </p:nvCxnSpPr>
        <p:spPr>
          <a:xfrm>
            <a:off x="6276680" y="3782338"/>
            <a:ext cx="777300" cy="0"/>
          </a:xfrm>
          <a:prstGeom prst="straightConnector1">
            <a:avLst/>
          </a:prstGeom>
          <a:noFill/>
          <a:ln cap="flat" cmpd="sng" w="22225">
            <a:solidFill>
              <a:srgbClr val="7280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5" name="Google Shape;305;p12"/>
          <p:cNvSpPr/>
          <p:nvPr/>
        </p:nvSpPr>
        <p:spPr>
          <a:xfrm>
            <a:off x="7053920" y="3393718"/>
            <a:ext cx="2103000" cy="777300"/>
          </a:xfrm>
          <a:prstGeom prst="roundRect">
            <a:avLst>
              <a:gd fmla="val 10588" name="adj"/>
            </a:avLst>
          </a:prstGeom>
          <a:solidFill>
            <a:srgbClr val="F7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 txBox="1"/>
          <p:nvPr/>
        </p:nvSpPr>
        <p:spPr>
          <a:xfrm>
            <a:off x="7145360" y="3393718"/>
            <a:ext cx="1920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 txBox="1"/>
          <p:nvPr/>
        </p:nvSpPr>
        <p:spPr>
          <a:xfrm>
            <a:off x="9504467" y="3599525"/>
            <a:ext cx="2217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A0E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A5A0E"/>
                </a:solidFill>
                <a:latin typeface="Calibri"/>
                <a:ea typeface="Calibri"/>
                <a:cs typeface="Calibri"/>
                <a:sym typeface="Calibri"/>
              </a:rPr>
              <a:t>Can check the machine's history. Can ask a follow-up instead of guessing.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8" name="Google Shape;308;p12"/>
          <p:cNvGraphicFramePr/>
          <p:nvPr/>
        </p:nvGraphicFramePr>
        <p:xfrm>
          <a:off x="2743153" y="46836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{5C5E8258-34F5-474B-B590-A5CAB6F93EA2}</a:tableStyleId>
              </a:tblPr>
              <a:tblGrid>
                <a:gridCol w="2468875"/>
                <a:gridCol w="1965950"/>
                <a:gridCol w="196595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4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(RAG without Agent)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4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4756"/>
                    </a:solidFill>
                  </a:tcPr>
                </a:tc>
              </a:tr>
              <a:tr h="37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23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63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Root cause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23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63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73.0%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5A0E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8A5A0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75.7%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AD0"/>
                    </a:solidFill>
                  </a:tcPr>
                </a:tc>
              </a:tr>
              <a:tr h="37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23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63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Evidence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23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63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45.9%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5A0E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8A5A0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54.1%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AD0"/>
                    </a:solidFill>
                  </a:tcPr>
                </a:tc>
              </a:tr>
              <a:tr h="37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23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63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 family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5A0E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8A5A0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94.1%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A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5A0E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8A5A0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94.1%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AD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E2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08E24"/>
                </a:solidFill>
                <a:latin typeface="Calibri"/>
                <a:ea typeface="Calibri"/>
                <a:cs typeface="Calibri"/>
                <a:sym typeface="Calibri"/>
              </a:rPr>
              <a:t>BENCHMARKS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Vision, Retrieval, and the Safety Gate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 txBox="1"/>
          <p:nvPr/>
        </p:nvSpPr>
        <p:spPr>
          <a:xfrm>
            <a:off x="502920" y="150876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Vision classifier · accuracy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7" name="Google Shape;317;p13"/>
          <p:cNvGraphicFramePr/>
          <p:nvPr/>
        </p:nvGraphicFramePr>
        <p:xfrm>
          <a:off x="502920" y="18013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{5C5E8258-34F5-474B-B590-A5CAB6F93EA2}</a:tableStyleId>
              </a:tblPr>
              <a:tblGrid>
                <a:gridCol w="3383275"/>
                <a:gridCol w="2011675"/>
              </a:tblGrid>
              <a:tr h="37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Approach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4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4756"/>
                    </a:solidFill>
                  </a:tcPr>
                </a:tc>
              </a:tr>
              <a:tr h="37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23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63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Zero-shot LLM - gpt-4.1-mini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23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63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42.5%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5A0E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8A5A0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Trained classifier - ResNet 18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A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5A0E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8A5A0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82.2%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AD0"/>
                    </a:solidFill>
                  </a:tcPr>
                </a:tc>
              </a:tr>
            </a:tbl>
          </a:graphicData>
        </a:graphic>
      </p:graphicFrame>
      <p:sp>
        <p:nvSpPr>
          <p:cNvPr id="318" name="Google Shape;318;p13"/>
          <p:cNvSpPr txBox="1"/>
          <p:nvPr/>
        </p:nvSpPr>
        <p:spPr>
          <a:xfrm>
            <a:off x="6108192" y="150876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Retrieval · chunk size (hit-rate@5)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9" name="Google Shape;319;p13"/>
          <p:cNvGraphicFramePr/>
          <p:nvPr/>
        </p:nvGraphicFramePr>
        <p:xfrm>
          <a:off x="6108192" y="18013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{5C5E8258-34F5-474B-B590-A5CAB6F93EA2}</a:tableStyleId>
              </a:tblPr>
              <a:tblGrid>
                <a:gridCol w="3383275"/>
                <a:gridCol w="2011675"/>
              </a:tblGrid>
              <a:tr h="37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Chunk size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4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Hit-rate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4756"/>
                    </a:solidFill>
                  </a:tcPr>
                </a:tc>
              </a:tr>
              <a:tr h="37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23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63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400 chars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23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63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64.9%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23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63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800 (current)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23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63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78.4%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5A0E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8A5A0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1,600 chars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A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5A0E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8A5A0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81.1%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AD0"/>
                    </a:solidFill>
                  </a:tcPr>
                </a:tc>
              </a:tr>
            </a:tbl>
          </a:graphicData>
        </a:graphic>
      </p:graphicFrame>
      <p:sp>
        <p:nvSpPr>
          <p:cNvPr id="320" name="Google Shape;320;p13"/>
          <p:cNvSpPr txBox="1"/>
          <p:nvPr/>
        </p:nvSpPr>
        <p:spPr>
          <a:xfrm>
            <a:off x="502920" y="370332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Reranker · same coverage, better order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1" name="Google Shape;321;p13"/>
          <p:cNvGraphicFramePr/>
          <p:nvPr/>
        </p:nvGraphicFramePr>
        <p:xfrm>
          <a:off x="502920" y="39959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{5C5E8258-34F5-474B-B590-A5CAB6F93EA2}</a:tableStyleId>
              </a:tblPr>
              <a:tblGrid>
                <a:gridCol w="1920250"/>
                <a:gridCol w="1234450"/>
                <a:gridCol w="1051550"/>
                <a:gridCol w="1188725"/>
              </a:tblGrid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4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Hit-rate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4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MRR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4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Chunks sent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4756"/>
                    </a:solidFill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23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63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Plain k=10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23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63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86.5%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23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63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0.619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23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632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5A0E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8A5A0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Reranker (15→5)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A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5A0E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8A5A0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86.5%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A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5A0E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8A5A0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0.695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A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5A0E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8A5A0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AD0"/>
                    </a:solidFill>
                  </a:tcPr>
                </a:tc>
              </a:tr>
            </a:tbl>
          </a:graphicData>
        </a:graphic>
      </p:graphicFrame>
      <p:sp>
        <p:nvSpPr>
          <p:cNvPr id="322" name="Google Shape;322;p13"/>
          <p:cNvSpPr/>
          <p:nvPr/>
        </p:nvSpPr>
        <p:spPr>
          <a:xfrm>
            <a:off x="6108192" y="3703320"/>
            <a:ext cx="5394960" cy="1298448"/>
          </a:xfrm>
          <a:prstGeom prst="roundRect">
            <a:avLst>
              <a:gd fmla="val 5926" name="adj"/>
            </a:avLst>
          </a:prstGeom>
          <a:solidFill>
            <a:srgbClr val="FBEA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 txBox="1"/>
          <p:nvPr/>
        </p:nvSpPr>
        <p:spPr>
          <a:xfrm>
            <a:off x="6309359" y="3813048"/>
            <a:ext cx="4992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A0E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8A5A0E"/>
                </a:solidFill>
                <a:latin typeface="Calibri"/>
                <a:ea typeface="Calibri"/>
                <a:cs typeface="Calibri"/>
                <a:sym typeface="Calibri"/>
              </a:rPr>
              <a:t>Safety-gate impact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 txBox="1"/>
          <p:nvPr/>
        </p:nvSpPr>
        <p:spPr>
          <a:xfrm>
            <a:off x="6309359" y="4087368"/>
            <a:ext cx="49926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8C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5B7A8C"/>
                </a:solidFill>
                <a:latin typeface="Cambria"/>
                <a:ea typeface="Cambria"/>
                <a:cs typeface="Cambria"/>
                <a:sym typeface="Cambria"/>
              </a:rPr>
              <a:t>33.3%</a:t>
            </a:r>
            <a:r>
              <a:rPr lang="en-US" sz="18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b="1" lang="en-US" sz="3000">
                <a:solidFill>
                  <a:srgbClr val="E08E24"/>
                </a:solidFill>
                <a:latin typeface="Cambria"/>
                <a:ea typeface="Cambria"/>
                <a:cs typeface="Cambria"/>
                <a:sym typeface="Cambria"/>
              </a:rPr>
              <a:t>5.9%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 txBox="1"/>
          <p:nvPr/>
        </p:nvSpPr>
        <p:spPr>
          <a:xfrm>
            <a:off x="6309359" y="4636008"/>
            <a:ext cx="4992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A0E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8A5A0E"/>
                </a:solidFill>
                <a:latin typeface="Calibri"/>
                <a:ea typeface="Calibri"/>
                <a:cs typeface="Calibri"/>
                <a:sym typeface="Calibri"/>
              </a:rPr>
              <a:t>precaution-ordering failure rate, without → with the gate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The Factory Floor  ·  Industrial Maintenance Copilot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 txBox="1"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4"/>
          <p:cNvSpPr txBox="1"/>
          <p:nvPr/>
        </p:nvSpPr>
        <p:spPr>
          <a:xfrm>
            <a:off x="548640" y="347472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E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08E24"/>
                </a:solidFill>
                <a:latin typeface="Calibri"/>
                <a:ea typeface="Calibri"/>
                <a:cs typeface="Calibri"/>
                <a:sym typeface="Calibri"/>
              </a:rPr>
              <a:t>OBSERVABILITY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 txBox="1"/>
          <p:nvPr/>
        </p:nvSpPr>
        <p:spPr>
          <a:xfrm>
            <a:off x="548640" y="603504"/>
            <a:ext cx="10789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Every Run, Traced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 txBox="1"/>
          <p:nvPr/>
        </p:nvSpPr>
        <p:spPr>
          <a:xfrm>
            <a:off x="548640" y="1325880"/>
            <a:ext cx="1106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Every run of the app is recorded end to end: model calls, retrievals, tool use. These are the real numbers from LangSmith.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 txBox="1"/>
          <p:nvPr/>
        </p:nvSpPr>
        <p:spPr>
          <a:xfrm>
            <a:off x="548640" y="2240280"/>
            <a:ext cx="269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1,620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 txBox="1"/>
          <p:nvPr/>
        </p:nvSpPr>
        <p:spPr>
          <a:xfrm>
            <a:off x="548640" y="3154680"/>
            <a:ext cx="269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runs recorded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 txBox="1"/>
          <p:nvPr/>
        </p:nvSpPr>
        <p:spPr>
          <a:xfrm>
            <a:off x="3346704" y="2240280"/>
            <a:ext cx="269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0%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 txBox="1"/>
          <p:nvPr/>
        </p:nvSpPr>
        <p:spPr>
          <a:xfrm>
            <a:off x="3346704" y="3154680"/>
            <a:ext cx="269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crashed with an error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 txBox="1"/>
          <p:nvPr/>
        </p:nvSpPr>
        <p:spPr>
          <a:xfrm>
            <a:off x="6144768" y="2240280"/>
            <a:ext cx="269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8E24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E08E24"/>
                </a:solidFill>
                <a:latin typeface="Cambria"/>
                <a:ea typeface="Cambria"/>
                <a:cs typeface="Cambria"/>
                <a:sym typeface="Cambria"/>
              </a:rPr>
              <a:t>1.71s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 txBox="1"/>
          <p:nvPr/>
        </p:nvSpPr>
        <p:spPr>
          <a:xfrm>
            <a:off x="6426012" y="3154675"/>
            <a:ext cx="2135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P50 Latency . </a:t>
            </a:r>
            <a:r>
              <a:rPr b="0" i="0" lang="en-US" sz="1200" u="none" cap="none" strike="noStrike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typical answer 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(median)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 txBox="1"/>
          <p:nvPr/>
        </p:nvSpPr>
        <p:spPr>
          <a:xfrm>
            <a:off x="8942832" y="2240280"/>
            <a:ext cx="269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8.98s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 txBox="1"/>
          <p:nvPr/>
        </p:nvSpPr>
        <p:spPr>
          <a:xfrm>
            <a:off x="8942832" y="3154680"/>
            <a:ext cx="269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P99 Latency . </a:t>
            </a:r>
            <a:r>
              <a:rPr b="0" i="0" lang="en-US" sz="1200" u="none" cap="none" strike="noStrike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slowest </a:t>
            </a:r>
            <a:br>
              <a:rPr b="0" i="0" lang="en-US" sz="1200" u="none" cap="none" strike="noStrike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1% of answers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548640" y="4160520"/>
            <a:ext cx="11091600" cy="1371600"/>
          </a:xfrm>
          <a:prstGeom prst="roundRect">
            <a:avLst>
              <a:gd fmla="val 5333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"/>
          <p:cNvSpPr txBox="1"/>
          <p:nvPr/>
        </p:nvSpPr>
        <p:spPr>
          <a:xfrm>
            <a:off x="868680" y="416052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Zero crashes is not zero mistakes. </a:t>
            </a:r>
            <a:r>
              <a:rPr b="0" i="0" lang="en-US" sz="13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Tracing only flags an exception. A confidently wrong answer still counts as a success here.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 txBox="1"/>
          <p:nvPr/>
        </p:nvSpPr>
        <p:spPr>
          <a:xfrm>
            <a:off x="548640" y="651052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The Factory Floor  ·  Industrial Maintenance Copilot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E2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08E24"/>
                </a:solidFill>
                <a:latin typeface="Calibri"/>
                <a:ea typeface="Calibri"/>
                <a:cs typeface="Calibri"/>
                <a:sym typeface="Calibri"/>
              </a:rPr>
              <a:t>LIMITS &amp; NEXT STEPS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 txBox="1"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What Comes Next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550163" y="1696001"/>
            <a:ext cx="5390400" cy="379680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550153" y="1696010"/>
            <a:ext cx="5390400" cy="45600"/>
          </a:xfrm>
          <a:prstGeom prst="rect">
            <a:avLst/>
          </a:prstGeom>
          <a:solidFill>
            <a:srgbClr val="E08E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 txBox="1"/>
          <p:nvPr/>
        </p:nvSpPr>
        <p:spPr>
          <a:xfrm>
            <a:off x="824472" y="1906322"/>
            <a:ext cx="4841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8A5A0E"/>
                </a:solidFill>
                <a:latin typeface="Calibri"/>
                <a:ea typeface="Calibri"/>
                <a:cs typeface="Calibri"/>
                <a:sym typeface="Calibri"/>
              </a:rPr>
              <a:t>KNOWN LIMITS</a:t>
            </a:r>
            <a:endParaRPr/>
          </a:p>
        </p:txBody>
      </p:sp>
      <p:sp>
        <p:nvSpPr>
          <p:cNvPr id="357" name="Google Shape;357;p15"/>
          <p:cNvSpPr txBox="1"/>
          <p:nvPr/>
        </p:nvSpPr>
        <p:spPr>
          <a:xfrm>
            <a:off x="824472" y="2290370"/>
            <a:ext cx="4841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Evidence accuracy still trails on fault codes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the semantic path alone is unreliable for exact identifiers</a:t>
            </a:r>
            <a:endParaRPr/>
          </a:p>
        </p:txBody>
      </p:sp>
      <p:sp>
        <p:nvSpPr>
          <p:cNvPr id="358" name="Google Shape;358;p15"/>
          <p:cNvSpPr txBox="1"/>
          <p:nvPr/>
        </p:nvSpPr>
        <p:spPr>
          <a:xfrm>
            <a:off x="824509" y="2857304"/>
            <a:ext cx="4841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Vision data is not domain data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MVTec parts, not worn bearings or burnt windings</a:t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6251442" y="1696001"/>
            <a:ext cx="5390400" cy="3796800"/>
          </a:xfrm>
          <a:prstGeom prst="roundRect">
            <a:avLst>
              <a:gd fmla="val 8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6251436" y="1696010"/>
            <a:ext cx="5390400" cy="45600"/>
          </a:xfrm>
          <a:prstGeom prst="rect">
            <a:avLst/>
          </a:prstGeom>
          <a:solidFill>
            <a:srgbClr val="2E4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 txBox="1"/>
          <p:nvPr/>
        </p:nvSpPr>
        <p:spPr>
          <a:xfrm>
            <a:off x="6525757" y="1906322"/>
            <a:ext cx="4841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WHAT COMES NEXT</a:t>
            </a:r>
            <a:endParaRPr/>
          </a:p>
        </p:txBody>
      </p:sp>
      <p:sp>
        <p:nvSpPr>
          <p:cNvPr id="362" name="Google Shape;362;p15"/>
          <p:cNvSpPr txBox="1"/>
          <p:nvPr/>
        </p:nvSpPr>
        <p:spPr>
          <a:xfrm>
            <a:off x="6525757" y="2290370"/>
            <a:ext cx="4841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Rebuild the store in cosine space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makes a real relevance threshold possible</a:t>
            </a:r>
            <a:endParaRPr/>
          </a:p>
        </p:txBody>
      </p:sp>
      <p:sp>
        <p:nvSpPr>
          <p:cNvPr id="363" name="Google Shape;363;p15"/>
          <p:cNvSpPr txBox="1"/>
          <p:nvPr/>
        </p:nvSpPr>
        <p:spPr>
          <a:xfrm>
            <a:off x="6525782" y="2857304"/>
            <a:ext cx="4841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Real motor / VFD defect photographs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burnt windings, corroded terminals, dusty heatsinks</a:t>
            </a:r>
            <a:endParaRPr/>
          </a:p>
        </p:txBody>
      </p:sp>
      <p:sp>
        <p:nvSpPr>
          <p:cNvPr id="364" name="Google Shape;364;p15"/>
          <p:cNvSpPr txBox="1"/>
          <p:nvPr/>
        </p:nvSpPr>
        <p:spPr>
          <a:xfrm>
            <a:off x="6525782" y="3479096"/>
            <a:ext cx="4841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A Safety Data Sheet corpus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so precautions cover lubricants and chemicals too</a:t>
            </a:r>
            <a:endParaRPr/>
          </a:p>
        </p:txBody>
      </p:sp>
      <p:sp>
        <p:nvSpPr>
          <p:cNvPr id="365" name="Google Shape;365;p15"/>
          <p:cNvSpPr txBox="1"/>
          <p:nvPr/>
        </p:nvSpPr>
        <p:spPr>
          <a:xfrm>
            <a:off x="6525757" y="3973679"/>
            <a:ext cx="4841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Audio diagnostics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researched and deferred — the dataset needs real preprocessing work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6"/>
          <p:cNvSpPr txBox="1"/>
          <p:nvPr/>
        </p:nvSpPr>
        <p:spPr>
          <a:xfrm>
            <a:off x="548640" y="82296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E08E24"/>
                </a:solidFill>
                <a:latin typeface="Calibri"/>
                <a:ea typeface="Calibri"/>
                <a:cs typeface="Calibri"/>
                <a:sym typeface="Calibri"/>
              </a:rPr>
              <a:t>ALL 7 BOOTCAMP CORE REQUIREMENTS  —  DONE</a:t>
            </a:r>
            <a:endParaRPr/>
          </a:p>
        </p:txBody>
      </p:sp>
      <p:sp>
        <p:nvSpPr>
          <p:cNvPr id="371" name="Google Shape;371;p16"/>
          <p:cNvSpPr txBox="1"/>
          <p:nvPr/>
        </p:nvSpPr>
        <p:spPr>
          <a:xfrm>
            <a:off x="548640" y="1188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Now, Live.</a:t>
            </a:r>
            <a:endParaRPr/>
          </a:p>
        </p:txBody>
      </p:sp>
      <p:sp>
        <p:nvSpPr>
          <p:cNvPr id="372" name="Google Shape;372;p16"/>
          <p:cNvSpPr txBox="1"/>
          <p:nvPr/>
        </p:nvSpPr>
        <p:spPr>
          <a:xfrm>
            <a:off x="548640" y="233172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A real question and a real photo, against the running app — not a recording.</a:t>
            </a:r>
            <a:endParaRPr/>
          </a:p>
        </p:txBody>
      </p:sp>
      <p:sp>
        <p:nvSpPr>
          <p:cNvPr id="373" name="Google Shape;373;p16"/>
          <p:cNvSpPr/>
          <p:nvPr/>
        </p:nvSpPr>
        <p:spPr>
          <a:xfrm>
            <a:off x="566928" y="3145536"/>
            <a:ext cx="109728" cy="109728"/>
          </a:xfrm>
          <a:prstGeom prst="roundRect">
            <a:avLst>
              <a:gd fmla="val 50000" name="adj"/>
            </a:avLst>
          </a:prstGeom>
          <a:solidFill>
            <a:srgbClr val="5B7A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 txBox="1"/>
          <p:nvPr/>
        </p:nvSpPr>
        <p:spPr>
          <a:xfrm>
            <a:off x="859536" y="3063240"/>
            <a:ext cx="9692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Select VFD-06  ·  ask about F30059</a:t>
            </a:r>
            <a:endParaRPr/>
          </a:p>
        </p:txBody>
      </p:sp>
      <p:sp>
        <p:nvSpPr>
          <p:cNvPr id="375" name="Google Shape;375;p16"/>
          <p:cNvSpPr/>
          <p:nvPr/>
        </p:nvSpPr>
        <p:spPr>
          <a:xfrm>
            <a:off x="566928" y="3529584"/>
            <a:ext cx="109728" cy="109728"/>
          </a:xfrm>
          <a:prstGeom prst="roundRect">
            <a:avLst>
              <a:gd fmla="val 50000" name="adj"/>
            </a:avLst>
          </a:prstGeom>
          <a:solidFill>
            <a:srgbClr val="5B7A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 txBox="1"/>
          <p:nvPr/>
        </p:nvSpPr>
        <p:spPr>
          <a:xfrm>
            <a:off x="859536" y="3447288"/>
            <a:ext cx="9692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Grounded answer, cited by file and page</a:t>
            </a:r>
            <a:endParaRPr/>
          </a:p>
        </p:txBody>
      </p:sp>
      <p:sp>
        <p:nvSpPr>
          <p:cNvPr id="377" name="Google Shape;377;p16"/>
          <p:cNvSpPr/>
          <p:nvPr/>
        </p:nvSpPr>
        <p:spPr>
          <a:xfrm>
            <a:off x="566928" y="3913632"/>
            <a:ext cx="109728" cy="109728"/>
          </a:xfrm>
          <a:prstGeom prst="roundRect">
            <a:avLst>
              <a:gd fmla="val 50000" name="adj"/>
            </a:avLst>
          </a:prstGeom>
          <a:solidFill>
            <a:srgbClr val="5B7A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 txBox="1"/>
          <p:nvPr/>
        </p:nvSpPr>
        <p:spPr>
          <a:xfrm>
            <a:off x="859536" y="3831336"/>
            <a:ext cx="9692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“Tools used” trace — what the agent actually chose</a:t>
            </a:r>
            <a:endParaRPr/>
          </a:p>
        </p:txBody>
      </p:sp>
      <p:sp>
        <p:nvSpPr>
          <p:cNvPr id="379" name="Google Shape;379;p16"/>
          <p:cNvSpPr/>
          <p:nvPr/>
        </p:nvSpPr>
        <p:spPr>
          <a:xfrm>
            <a:off x="566928" y="4297680"/>
            <a:ext cx="109728" cy="109728"/>
          </a:xfrm>
          <a:prstGeom prst="roundRect">
            <a:avLst>
              <a:gd fmla="val 50000" name="adj"/>
            </a:avLst>
          </a:prstGeom>
          <a:solidFill>
            <a:srgbClr val="E08E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 txBox="1"/>
          <p:nvPr/>
        </p:nvSpPr>
        <p:spPr>
          <a:xfrm>
            <a:off x="859536" y="4215384"/>
            <a:ext cx="9692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Type F30021 alone  →  the definition page</a:t>
            </a:r>
            <a:endParaRPr/>
          </a:p>
        </p:txBody>
      </p:sp>
      <p:sp>
        <p:nvSpPr>
          <p:cNvPr id="381" name="Google Shape;381;p16"/>
          <p:cNvSpPr/>
          <p:nvPr/>
        </p:nvSpPr>
        <p:spPr>
          <a:xfrm>
            <a:off x="566928" y="4681728"/>
            <a:ext cx="109728" cy="109728"/>
          </a:xfrm>
          <a:prstGeom prst="roundRect">
            <a:avLst>
              <a:gd fmla="val 50000" name="adj"/>
            </a:avLst>
          </a:prstGeom>
          <a:solidFill>
            <a:srgbClr val="E08E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 txBox="1"/>
          <p:nvPr/>
        </p:nvSpPr>
        <p:spPr>
          <a:xfrm>
            <a:off x="859536" y="4599432"/>
            <a:ext cx="9692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Type F99999  →  clean refusal, not a guess</a:t>
            </a:r>
            <a:endParaRPr/>
          </a:p>
        </p:txBody>
      </p:sp>
      <p:sp>
        <p:nvSpPr>
          <p:cNvPr id="383" name="Google Shape;383;p16"/>
          <p:cNvSpPr/>
          <p:nvPr/>
        </p:nvSpPr>
        <p:spPr>
          <a:xfrm>
            <a:off x="566928" y="5065776"/>
            <a:ext cx="109728" cy="109728"/>
          </a:xfrm>
          <a:prstGeom prst="roundRect">
            <a:avLst>
              <a:gd fmla="val 50000" name="adj"/>
            </a:avLst>
          </a:prstGeom>
          <a:solidFill>
            <a:srgbClr val="E08E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 txBox="1"/>
          <p:nvPr/>
        </p:nvSpPr>
        <p:spPr>
          <a:xfrm>
            <a:off x="859536" y="4983480"/>
            <a:ext cx="9692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E4756"/>
                </a:solidFill>
                <a:latin typeface="Calibri"/>
                <a:ea typeface="Calibri"/>
                <a:cs typeface="Calibri"/>
                <a:sym typeface="Calibri"/>
              </a:rPr>
              <a:t>Type F3OO21  →  it asks which code was meant</a:t>
            </a:r>
            <a:endParaRPr/>
          </a:p>
        </p:txBody>
      </p:sp>
      <p:sp>
        <p:nvSpPr>
          <p:cNvPr id="385" name="Google Shape;385;p16"/>
          <p:cNvSpPr/>
          <p:nvPr/>
        </p:nvSpPr>
        <p:spPr>
          <a:xfrm>
            <a:off x="566928" y="5449824"/>
            <a:ext cx="109728" cy="109728"/>
          </a:xfrm>
          <a:prstGeom prst="roundRect">
            <a:avLst>
              <a:gd fmla="val 50000" name="adj"/>
            </a:avLst>
          </a:prstGeom>
          <a:solidFill>
            <a:srgbClr val="5B7A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 txBox="1"/>
          <p:nvPr/>
        </p:nvSpPr>
        <p:spPr>
          <a:xfrm>
            <a:off x="859536" y="5367528"/>
            <a:ext cx="9692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A photo of visible damage  →  classification + grounded next steps</a:t>
            </a:r>
            <a:endParaRPr/>
          </a:p>
        </p:txBody>
      </p:sp>
      <p:sp>
        <p:nvSpPr>
          <p:cNvPr id="387" name="Google Shape;387;p16"/>
          <p:cNvSpPr/>
          <p:nvPr/>
        </p:nvSpPr>
        <p:spPr>
          <a:xfrm>
            <a:off x="548640" y="5888736"/>
            <a:ext cx="11091672" cy="566928"/>
          </a:xfrm>
          <a:prstGeom prst="roundRect">
            <a:avLst>
              <a:gd fmla="val 8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 txBox="1"/>
          <p:nvPr/>
        </p:nvSpPr>
        <p:spPr>
          <a:xfrm>
            <a:off x="822960" y="5888736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5–8 minutes  ·  app already launched, signed in, and warm  ·  demo photo ready</a:t>
            </a:r>
            <a:endParaRPr/>
          </a:p>
        </p:txBody>
      </p:sp>
      <p:sp>
        <p:nvSpPr>
          <p:cNvPr id="389" name="Google Shape;389;p1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The Factory Floor  ·  Industrial Maintenance Copilot</a:t>
            </a:r>
            <a:endParaRPr/>
          </a:p>
        </p:txBody>
      </p:sp>
      <p:sp>
        <p:nvSpPr>
          <p:cNvPr id="390" name="Google Shape;390;p16"/>
          <p:cNvSpPr txBox="1"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7"/>
          <p:cNvSpPr/>
          <p:nvPr/>
        </p:nvSpPr>
        <p:spPr>
          <a:xfrm>
            <a:off x="-1463040" y="4023360"/>
            <a:ext cx="4754880" cy="4754880"/>
          </a:xfrm>
          <a:prstGeom prst="ellipse">
            <a:avLst/>
          </a:prstGeom>
          <a:solidFill>
            <a:srgbClr val="EE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320040" y="5394960"/>
            <a:ext cx="1965960" cy="1965960"/>
          </a:xfrm>
          <a:prstGeom prst="ellipse">
            <a:avLst/>
          </a:prstGeom>
          <a:solidFill>
            <a:srgbClr val="FBEA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 txBox="1"/>
          <p:nvPr/>
        </p:nvSpPr>
        <p:spPr>
          <a:xfrm>
            <a:off x="640080" y="22860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756"/>
              </a:buClr>
              <a:buSzPts val="4600"/>
              <a:buFont typeface="Cambria"/>
              <a:buNone/>
            </a:pPr>
            <a:r>
              <a:rPr b="1" lang="en-US" sz="4600">
                <a:solidFill>
                  <a:srgbClr val="2E4756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7"/>
          <p:cNvSpPr txBox="1"/>
          <p:nvPr/>
        </p:nvSpPr>
        <p:spPr>
          <a:xfrm>
            <a:off x="658368" y="32461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72808A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658368" y="4206240"/>
            <a:ext cx="2011680" cy="457200"/>
          </a:xfrm>
          <a:prstGeom prst="roundRect">
            <a:avLst>
              <a:gd fmla="val 50000" name="adj"/>
            </a:avLst>
          </a:prstGeom>
          <a:solidFill>
            <a:srgbClr val="5B7A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 txBox="1"/>
          <p:nvPr/>
        </p:nvSpPr>
        <p:spPr>
          <a:xfrm>
            <a:off x="658368" y="42062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 manuals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2898648" y="4206240"/>
            <a:ext cx="2011680" cy="457200"/>
          </a:xfrm>
          <a:prstGeom prst="roundRect">
            <a:avLst>
              <a:gd fmla="val 50000" name="adj"/>
            </a:avLst>
          </a:prstGeom>
          <a:solidFill>
            <a:srgbClr val="5B7A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7"/>
          <p:cNvSpPr txBox="1"/>
          <p:nvPr/>
        </p:nvSpPr>
        <p:spPr>
          <a:xfrm>
            <a:off x="2898648" y="42062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12,301 chunks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7"/>
          <p:cNvSpPr/>
          <p:nvPr/>
        </p:nvSpPr>
        <p:spPr>
          <a:xfrm>
            <a:off x="5138928" y="4206240"/>
            <a:ext cx="2011680" cy="457200"/>
          </a:xfrm>
          <a:prstGeom prst="roundRect">
            <a:avLst>
              <a:gd fmla="val 50000" name="adj"/>
            </a:avLst>
          </a:prstGeom>
          <a:solidFill>
            <a:srgbClr val="5B7A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7"/>
          <p:cNvSpPr txBox="1"/>
          <p:nvPr/>
        </p:nvSpPr>
        <p:spPr>
          <a:xfrm>
            <a:off x="5138928" y="42062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37 test scenarios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7379208" y="4206240"/>
            <a:ext cx="2011680" cy="457200"/>
          </a:xfrm>
          <a:prstGeom prst="roundRect">
            <a:avLst>
              <a:gd fmla="val 50000" name="adj"/>
            </a:avLst>
          </a:prstGeom>
          <a:solidFill>
            <a:srgbClr val="E08E2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 txBox="1"/>
          <p:nvPr/>
        </p:nvSpPr>
        <p:spPr>
          <a:xfrm>
            <a:off x="7379208" y="42062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33.3% → 5.9%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 txBox="1"/>
          <p:nvPr/>
        </p:nvSpPr>
        <p:spPr>
          <a:xfrm>
            <a:off x="658368" y="6126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808A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72808A"/>
                </a:solidFill>
                <a:latin typeface="Courier New"/>
                <a:ea typeface="Courier New"/>
                <a:cs typeface="Courier New"/>
                <a:sym typeface="Courier New"/>
              </a:rPr>
              <a:t>github.com/mcorreia10/Factory_Floor_Chatbot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