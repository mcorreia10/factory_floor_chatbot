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2600000"/>
            <a:ext cx="1019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/>
              <a:t>Benchmarking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3600000"/>
            <a:ext cx="101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/>
              <a:t>The Factory Floor — Industrial Maintenance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Benchmarking Results — Computer Vision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Trained classifier vs. two baselines, 376 held-out test images (notebooks/06_computer_vision.ipynb)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94719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359"/>
                <a:gridCol w="5547360"/>
              </a:tblGrid>
              <a:tr h="4000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Majority-class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77.1%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Zero-shot LLM (gpt-4.1-mini)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42.5%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Trained classifier (frozen ResNet18 + LogisticRegression)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400000"/>
            <a:ext cx="11094719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Finding: the zero-shot LLM baseline scores BELOW the trivial majority-class baseline — a real, disclosed result, not a hypothetical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Benchmarking Results — Diagnostic Agent vs. RAG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37 real troubleshooting scenarios, rag.ask() vs. run_diagnostic_agent() (notebooks/10_evaluation_baseline.ipynb)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94719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239"/>
                <a:gridCol w="3698239"/>
                <a:gridCol w="3698241"/>
              </a:tblGrid>
              <a:tr h="342857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Baseline (rag.ask)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2857">
                <a:tc>
                  <a:txBody>
                    <a:bodyPr/>
                    <a:lstStyle/>
                    <a:p>
                      <a:r>
                        <a:t>Root-cause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75.7%</a:t>
                      </a:r>
                    </a:p>
                  </a:txBody>
                  <a:tcPr/>
                </a:tc>
              </a:tr>
              <a:tr h="342857">
                <a:tc>
                  <a:txBody>
                    <a:bodyPr/>
                    <a:lstStyle/>
                    <a:p>
                      <a:r>
                        <a:t>Evidence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54.1%</a:t>
                      </a:r>
                    </a:p>
                  </a:txBody>
                  <a:tcPr/>
                </a:tc>
              </a:tr>
              <a:tr h="342857">
                <a:tc>
                  <a:txBody>
                    <a:bodyPr/>
                    <a:lstStyle/>
                    <a:p>
                      <a:r>
                        <a:t>Source-family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91.2%</a:t>
                      </a:r>
                    </a:p>
                  </a:txBody>
                  <a:tcPr/>
                </a:tc>
              </a:tr>
              <a:tr h="342857">
                <a:tc>
                  <a:txBody>
                    <a:bodyPr/>
                    <a:lstStyle/>
                    <a:p>
                      <a:r>
                        <a:t>History-reference rate (aggregate 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/>
                </a:tc>
              </a:tr>
              <a:tr h="342857">
                <a:tc>
                  <a:txBody>
                    <a:bodyPr/>
                    <a:lstStyle/>
                    <a:p>
                      <a:r>
                        <a:t>Mean latency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</a:t>
                      </a:r>
                    </a:p>
                  </a:txBody>
                  <a:tcPr/>
                </a:tc>
              </a:tr>
              <a:tr h="342858">
                <a:tc>
                  <a:txBody>
                    <a:bodyPr/>
                    <a:lstStyle/>
                    <a:p>
                      <a:r>
                        <a:t>Mean tool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0000"/>
            <a:ext cx="11094719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Two dedicated structural comparisons beyond the table above: the baseline has no code path to ever consult machine history or receive a photo's vision result. On a targeted repeat-fault question, the agent correctly cited a real prior repair date (2022-06-25) while the baseline could not. On a conflicting text+photo scenario, the agent asked a clarifying question instead of guessing — the baseline had no way to even detect a conflict existed.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Benchmarking Results — Safety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Same 37 answers from each pipeline, audited for precaution-first ordering (notebooks/10_evaluation_baseline.ipynb, Part 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94719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239"/>
                <a:gridCol w="3698239"/>
                <a:gridCol w="3698241"/>
              </a:tblGrid>
              <a:tr h="3800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Agent (rule 6 active)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Baseline (no rule)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t>Answers recommending a physical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t>Precaution-ordering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t>Failure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93.9%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t>Judge/keyword cross-check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00000"/>
            <a:ext cx="11094719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Both pipelines use the identical underlying model (gpt-4.1-mini); the only difference is whether the safety-first prompt rule is present, isolating the effect of that one design choice. The agent's failure rate is reported as-is, not zero — the spec's own standard is "reporting it honestly is the point."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