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4F2EC"/>
                </a:solidFill>
                <a:latin typeface="Calibri"/>
              </a:rPr>
              <a:t>🏭  INDUSTRIAL MAINTENANCE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The Factory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7CDD3"/>
                </a:solidFill>
                <a:latin typeface="Calibri"/>
              </a:rPr>
              <a:t>A safety-first diagnostic agent for electric motors and variable-frequency drives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9096"/>
                </a:solidFill>
                <a:latin typeface="Calibri"/>
              </a:rPr>
              <a:t>AI Engineering Bootcamp — Final Project  ·  Retrieval, Agents, Vision, Safety,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A33"/>
                </a:solidFill>
                <a:latin typeface="Calibri"/>
              </a:rPr>
              <a:t>Diagnosing a fault means digging through hundreds of pages, fast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18288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2A33"/>
                </a:solidFill>
                <a:latin typeface="Calibri"/>
              </a:rPr>
              <a:t>Manuals are huge, not searchable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168"/>
                </a:solidFill>
                <a:latin typeface="Calibri"/>
              </a:rPr>
              <a:t>One VFD family alone spans 6 documents and thousands of pages of operating, list, and function manuals — no full-text search on the shop floor.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96596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18288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2A33"/>
                </a:solidFill>
                <a:latin typeface="Calibri"/>
              </a:rPr>
              <a:t>Machine history lives elsewhere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168"/>
                </a:solidFill>
                <a:latin typeface="Calibri"/>
              </a:rPr>
              <a:t>Past faults and repairs for a specific asset are rarely connected to the manual an operator is reading right 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6596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18288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2A33"/>
                </a:solidFill>
                <a:latin typeface="Calibri"/>
              </a:rPr>
              <a:t>Wrong guidance is a safety risk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168"/>
                </a:solidFill>
                <a:latin typeface="Calibri"/>
              </a:rPr>
              <a:t>A confident but ungrounded answer isn't just unhelpful in this domain — skipping a precaution before opening a live drive is dangerous.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The Factory Floor — Industrial Maintenance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02 ·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A33"/>
                </a:solidFill>
                <a:latin typeface="Calibri"/>
              </a:rPr>
              <a:t>One copilot, four components working together — not four separate demos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697480" cy="329184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01168" bIns="182880"/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🔍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RAG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4F2EC"/>
                </a:solidFill>
                <a:latin typeface="Calibri"/>
              </a:rPr>
              <a:t>Grounded answers, cited by file + page, from 11 real Siemens manuals — never invents a fault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965960"/>
            <a:ext cx="2697480" cy="3291840"/>
          </a:xfrm>
          <a:prstGeom prst="roundRect">
            <a:avLst>
              <a:gd name="adj" fmla="val 5000"/>
            </a:avLst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01168" bIns="182880"/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🤖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Agent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4F2EC"/>
                </a:solidFill>
                <a:latin typeface="Calibri"/>
              </a:rPr>
              <a:t>Decides which tools to use — manuals, machine history, or neither — and carries memory across turns.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965960"/>
            <a:ext cx="2697480" cy="329184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01168" bIns="182880"/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📷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Vision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4F2EC"/>
                </a:solidFill>
                <a:latin typeface="Calibri"/>
              </a:rPr>
              <a:t>Classifies visible defects in an uploaded photo — trained classifier, benchmarked against two baselines.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61704" y="1965960"/>
            <a:ext cx="2697480" cy="3291840"/>
          </a:xfrm>
          <a:prstGeom prst="roundRect">
            <a:avLst>
              <a:gd name="adj" fmla="val 5000"/>
            </a:avLst>
          </a:prstGeom>
          <a:solidFill>
            <a:srgbClr val="C9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01168" bIns="182880"/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🛡️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Safety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BE3C0"/>
                </a:solidFill>
                <a:latin typeface="Calibri"/>
              </a:rPr>
              <a:t>Every physically-performed step is preceded by safety precautions — audited, not just promised.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The Factory Floor — Industrial Maintenance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A33"/>
                </a:solidFill>
                <a:latin typeface="Calibri"/>
              </a:rPr>
              <a:t>A model that chooses its own tools — not a fixed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691640" cy="123444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5B6168"/>
                </a:solidFill>
                <a:latin typeface="Calibri"/>
              </a:rPr>
              <a:t>OPERATOR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Calibri"/>
              </a:rPr>
              <a:t>Question + photo</a:t>
            </a:r>
          </a:p>
        </p:txBody>
      </p:sp>
      <p:sp>
        <p:nvSpPr>
          <p:cNvPr id="6" name="Chevron 5"/>
          <p:cNvSpPr/>
          <p:nvPr/>
        </p:nvSpPr>
        <p:spPr>
          <a:xfrm>
            <a:off x="2286000" y="2555748"/>
            <a:ext cx="320040" cy="237744"/>
          </a:xfrm>
          <a:prstGeom prst="chevron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97480" y="2057400"/>
            <a:ext cx="2103120" cy="1234440"/>
          </a:xfrm>
          <a:prstGeom prst="roundRect">
            <a:avLst>
              <a:gd name="adj" fmla="val 5000"/>
            </a:avLst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C7CDD3"/>
                </a:solidFill>
                <a:latin typeface="Calibri"/>
              </a:rPr>
              <a:t>DIAGNOSTIC AGENT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Decides which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3749039"/>
            <a:ext cx="2103120" cy="96012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search_manuals</a:t>
            </a:r>
          </a:p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4F2EC"/>
                </a:solidFill>
                <a:latin typeface="Calibri"/>
              </a:rPr>
              <a:t>RAG · 11 manuals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4892040"/>
            <a:ext cx="2103120" cy="96012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get_maintenance_history</a:t>
            </a:r>
          </a:p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4F2EC"/>
                </a:solidFill>
                <a:latin typeface="Calibri"/>
              </a:rPr>
              <a:t>Past faults for this asset</a:t>
            </a:r>
          </a:p>
        </p:txBody>
      </p:sp>
      <p:sp>
        <p:nvSpPr>
          <p:cNvPr id="10" name="Chevron 9"/>
          <p:cNvSpPr/>
          <p:nvPr/>
        </p:nvSpPr>
        <p:spPr>
          <a:xfrm>
            <a:off x="4937760" y="2555748"/>
            <a:ext cx="320040" cy="237744"/>
          </a:xfrm>
          <a:prstGeom prst="chevron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49240" y="2057400"/>
            <a:ext cx="2103120" cy="1234440"/>
          </a:xfrm>
          <a:prstGeom prst="roundRect">
            <a:avLst>
              <a:gd name="adj" fmla="val 5000"/>
            </a:avLst>
          </a:prstGeom>
          <a:solidFill>
            <a:srgbClr val="C9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BE3C0"/>
                </a:solidFill>
                <a:latin typeface="Calibri"/>
              </a:rPr>
              <a:t>SAFETY-FIRST RULE</a:t>
            </a:r>
          </a:p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Precautions before action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7589520" y="2555748"/>
            <a:ext cx="320040" cy="237744"/>
          </a:xfrm>
          <a:prstGeom prst="chevron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C7CDD3"/>
                </a:solidFill>
                <a:latin typeface="Calibri"/>
              </a:rPr>
              <a:t>VISION (optional)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Photo → condition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7589520" y="4114800"/>
            <a:ext cx="320040" cy="237744"/>
          </a:xfrm>
          <a:prstGeom prst="chevron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3749039"/>
            <a:ext cx="1965960" cy="960120"/>
          </a:xfrm>
          <a:prstGeom prst="roundRect">
            <a:avLst>
              <a:gd name="adj" fmla="val 5000"/>
            </a:avLst>
          </a:prstGeom>
          <a:solidFill>
            <a:srgbClr val="BF5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BE3C0"/>
                </a:solidFill>
                <a:latin typeface="Calibri"/>
              </a:rPr>
              <a:t>FINAL ANSWER</a:t>
            </a:r>
          </a:p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Root cause +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89320"/>
            <a:ext cx="11201400" cy="50292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F2A33"/>
                </a:solidFill>
                <a:latin typeface="Calibri"/>
              </a:rPr>
              <a:t>Both tools are optional — a general question offers only search_manuals. Vision runs before the agent reasons, as context, not a tool it chooses.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The Factory Floor — Industrial Maintenance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04 ·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A33"/>
                </a:solidFill>
                <a:latin typeface="Calibri"/>
              </a:rPr>
              <a:t>Real manufacturer documentation, not synthetic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11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E4F2EC"/>
                </a:solidFill>
                <a:latin typeface="Calibri"/>
              </a:rPr>
              <a:t>manuals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4F2EC"/>
                </a:solidFill>
                <a:latin typeface="Calibri"/>
              </a:rPr>
              <a:t>official Siemens PDFs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0116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3,679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C7CDD3"/>
                </a:solidFill>
                <a:latin typeface="Calibri"/>
              </a:rPr>
              <a:t>pages ingested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C7CDD3"/>
                </a:solidFill>
                <a:latin typeface="Calibri"/>
              </a:rPr>
              <a:t>chunked + embedded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20116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1F2A33"/>
                </a:solidFill>
                <a:latin typeface="Calibri"/>
              </a:rPr>
              <a:t>~3:1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5B6168"/>
                </a:solidFill>
                <a:latin typeface="Calibri"/>
              </a:rPr>
              <a:t>VFD : motor pages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168"/>
                </a:solidFill>
                <a:latin typeface="Calibri"/>
              </a:rPr>
              <a:t>down from 18:1 in the first draft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0116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C9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20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BE3C0"/>
                </a:solidFill>
                <a:latin typeface="Calibri"/>
              </a:rPr>
              <a:t>simulated assets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BE3C0"/>
                </a:solidFill>
                <a:latin typeface="Calibri"/>
              </a:rPr>
              <a:t>10 motors + 10 VFDs, real fault codes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2880" bIns="182880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2A33"/>
                </a:solidFill>
                <a:latin typeface="Calibri"/>
              </a:rPr>
              <a:t>SINAMICS G120 / G120C (VFD) + SIMOTICS SD / GP (electric motor) — operating instructions, list manuals, function manuals, an engineering manual, and a catalog.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168"/>
                </a:solidFill>
                <a:latin typeface="Calibri"/>
              </a:rPr>
              <a:t>17 real VFD fault codes (e.g. F30021 ground fault, F30059 internal fan fault) extracted by scanning the raw PDF text for the real F/A-code pattern — not guessed from generic Siemens convention. Electric motors genuinely have no numeric fault-code system; confirmed by the same scan returning zero matches.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The Factory Floor — Industrial Maintenance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05 · RAG +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A33"/>
                </a:solidFill>
                <a:latin typeface="Calibri"/>
              </a:rPr>
              <a:t>Grounded retrieval, combined with real decision-making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2A33"/>
                </a:solidFill>
                <a:latin typeface="Calibri"/>
              </a:rPr>
              <a:t>Retrieval-Augmented Generation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5B6168"/>
                </a:solidFill>
                <a:latin typeface="Calibri"/>
              </a:rPr>
              <a:t>Every answer is grounded in the actual retrieved manual text, cited by file name + page number — never a source number that could go stale across calls.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33"/>
                </a:solidFill>
                <a:latin typeface="Calibri"/>
              </a:rPr>
              <a:t>"F30059 internal fan fault" →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0B6E4F"/>
                </a:solidFill>
                <a:latin typeface="Calibri"/>
              </a:rPr>
              <a:t>Siemens SINAMICS G120C List Manual, page 214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2A33"/>
                </a:solidFill>
                <a:latin typeface="Calibri"/>
              </a:rPr>
              <a:t>Conversation memory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168"/>
                </a:solidFill>
                <a:latin typeface="Calibri"/>
              </a:rPr>
              <a:t>A follow-up like "what if it clears before I check?" is understood in context — the system carries the conversation, not just the last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201168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82880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Real decision-making, not a script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7CDD3"/>
                </a:solidFill>
                <a:latin typeface="Calibri"/>
              </a:rPr>
              <a:t>"F30021, ground fault checks" (VFD-06 selected)</a:t>
            </a:r>
          </a:p>
          <a:p>
            <a:pPr algn="l">
              <a:spcAft>
                <a:spcPts val="1200"/>
              </a:spcAft>
            </a:pPr>
            <a:r>
              <a:rPr sz="1150" b="0" i="0">
                <a:solidFill>
                  <a:srgbClr val="E4F2EC"/>
                </a:solidFill>
                <a:latin typeface="Calibri"/>
              </a:rPr>
              <a:t>→ calls search_manuals + get_maintenance_history, cites 2022-06-25 history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7CDD3"/>
                </a:solidFill>
                <a:latin typeface="Calibri"/>
              </a:rPr>
              <a:t>Photo (structural damage) + "just a tiny cosmetic scuff"</a:t>
            </a:r>
          </a:p>
          <a:p>
            <a:pPr algn="l">
              <a:spcAft>
                <a:spcPts val="1200"/>
              </a:spcAft>
            </a:pPr>
            <a:r>
              <a:rPr sz="1150" b="0" i="0">
                <a:solidFill>
                  <a:srgbClr val="FBE3C0"/>
                </a:solidFill>
                <a:latin typeface="Calibri"/>
              </a:rPr>
              <a:t>→ 0 tools called — asks a clarifying question instead of guessing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7CDD3"/>
                </a:solidFill>
                <a:latin typeface="Calibri"/>
              </a:rPr>
              <a:t>"What is a VFD?"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4F2EC"/>
                </a:solidFill>
                <a:latin typeface="Calibri"/>
              </a:rPr>
              <a:t>→ answers directly, no tools, no fabricated citation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The Factory Floor — Industrial Maintenance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06 ·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A33"/>
                </a:solidFill>
                <a:latin typeface="Calibri"/>
              </a:rPr>
              <a:t>A trained classifier, benchmarked honestly against two baselines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82.2%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E4F2EC"/>
                </a:solidFill>
                <a:latin typeface="Calibri"/>
              </a:rPr>
              <a:t>Trained classifier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4F2EC"/>
                </a:solidFill>
                <a:latin typeface="Calibri"/>
              </a:rPr>
              <a:t>frozen ResNet18 features + LogisticRegression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10312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1F2A33"/>
                </a:solidFill>
                <a:latin typeface="Calibri"/>
              </a:rPr>
              <a:t>77.1%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5B6168"/>
                </a:solidFill>
                <a:latin typeface="Calibri"/>
              </a:rPr>
              <a:t>Majority-class baseline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168"/>
                </a:solidFill>
                <a:latin typeface="Calibri"/>
              </a:rPr>
              <a:t>always predicting "good"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10312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BF5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42.5%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BE3C0"/>
                </a:solidFill>
                <a:latin typeface="Calibri"/>
              </a:rPr>
              <a:t>Zero-shot LLM baseline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BE3C0"/>
                </a:solidFill>
                <a:latin typeface="Calibri"/>
              </a:rPr>
              <a:t>worse than the trivial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80560"/>
            <a:ext cx="11018520" cy="155448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A33"/>
                </a:solidFill>
                <a:latin typeface="Calibri"/>
              </a:rPr>
              <a:t>Curated 4-category subset of MVTec AD (cable, metal_nut, screw, transistor) — physically plausible on/around motors and VFDs, 1,502 images. The zero-shot model actually scores below simply guessing "good" every time — a real, honestly-reported failure, not tuned away.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The Factory Floor — Industrial Maintenance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07 · SAFETY-FIRST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A33"/>
                </a:solidFill>
                <a:latin typeface="Calibri"/>
              </a:rPr>
              <a:t>Measured, not assumed — the same question, with and without the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40.0%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E4F2EC"/>
                </a:solidFill>
                <a:latin typeface="Calibri"/>
              </a:rPr>
              <a:t>Agent — rule 6 active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4F2EC"/>
                </a:solidFill>
                <a:latin typeface="Calibri"/>
              </a:rPr>
              <a:t>12 of 30 answers still ordered precautions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210312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BF5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94.1%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BE3C0"/>
                </a:solidFill>
                <a:latin typeface="Calibri"/>
              </a:rPr>
              <a:t>Baseline — no safety rule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BE3C0"/>
                </a:solidFill>
                <a:latin typeface="Calibri"/>
              </a:rPr>
              <a:t>32 of 34 answers put precautions after the steps, or omitted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617720"/>
            <a:ext cx="11018520" cy="141732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A33"/>
                </a:solidFill>
                <a:latin typeface="Calibri"/>
              </a:rPr>
              <a:t>A dedicated LLM judge cross-checked by a deterministic keyword rule (91.9% / 78.4% agreement) audits every answer that recommends a physical action. The rule substantially reduces failures — it does not eliminate them, and that's reported as-is, including a live UI ordering failure caught during testing.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The Factory Floor — Industrial Maintenance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08 ·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A33"/>
                </a:solidFill>
                <a:latin typeface="Calibri"/>
              </a:rPr>
              <a:t>37 real troubleshooting scenarios, agent vs. baseline, identically scored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78.4%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E4F2EC"/>
                </a:solidFill>
                <a:latin typeface="Calibri"/>
              </a:rPr>
              <a:t>Root cause — agent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4F2EC"/>
                </a:solidFill>
                <a:latin typeface="Calibri"/>
              </a:rPr>
              <a:t>vs. 75.7%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01168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1F2A33"/>
                </a:solidFill>
                <a:latin typeface="Calibri"/>
              </a:rPr>
              <a:t>45.9%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5B6168"/>
                </a:solidFill>
                <a:latin typeface="Calibri"/>
              </a:rPr>
              <a:t>Evidence — agent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168"/>
                </a:solidFill>
                <a:latin typeface="Calibri"/>
              </a:rPr>
              <a:t>vs. 48.6%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201168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BF5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0%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BE3C0"/>
                </a:solidFill>
                <a:latin typeface="Calibri"/>
              </a:rPr>
              <a:t>Baseline history score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BE3C0"/>
                </a:solidFill>
                <a:latin typeface="Calibri"/>
              </a:rPr>
              <a:t>structural — no history tool at 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01168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37</a:t>
            </a:r>
          </a:p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C7CDD3"/>
                </a:solidFill>
                <a:latin typeface="Calibri"/>
              </a:rPr>
              <a:t>scenarios (≥30 req.)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C7CDD3"/>
                </a:solidFill>
                <a:latin typeface="Calibri"/>
              </a:rPr>
              <a:t>verified against the real corpus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31920"/>
            <a:ext cx="11018520" cy="210312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2880" bIns="164592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2A33"/>
                </a:solidFill>
                <a:latin typeface="Calibri"/>
              </a:rPr>
              <a:t>Honest finding worth repeating in the room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5B6168"/>
                </a:solidFill>
                <a:latin typeface="Calibri"/>
              </a:rPr>
              <a:t>On the held-out conflicting-signals case (structural damage photo + "just a cosmetic scuff" text), the agent asked a clarifying question. The baseline — with no vision-context mechanism — took the text at face value and concluded it was "likely safe to continue running the drive."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Evidence accuracy is close between the two — an honest echo of a real, documented limitation: embedding retrieval alone is unreliable for exact fault codes without extra machinery this project doesn't have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The Factory Floor — Industrial Maintenance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09 · REPORTED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A33"/>
                </a:solidFill>
                <a:latin typeface="Calibri"/>
              </a:rPr>
              <a:t>What's real about this system's limits, and 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2A33"/>
                </a:solidFill>
                <a:latin typeface="Calibri"/>
              </a:rPr>
              <a:t>Known limits, not hidden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B6168"/>
                </a:solidFill>
                <a:latin typeface="Calibri"/>
              </a:rPr>
              <a:t>Embedding search struggles with exact alphanumeric fault codes without a paired symptom.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B6168"/>
                </a:solidFill>
                <a:latin typeface="Calibri"/>
              </a:rPr>
              <a:t>No relevance threshold yet — an off-topic question still populates a sources table.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B6168"/>
                </a:solidFill>
                <a:latin typeface="Calibri"/>
              </a:rPr>
              <a:t>Vision dataset is a curated academic benchmark (MVTec AD), not real motor/VFD failure photos.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168"/>
                </a:solidFill>
                <a:latin typeface="Calibri"/>
              </a:rPr>
              <a:t>Safety Validator is an audit utility today, not yet a live blocking gate in the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201168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 bIns="18288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What's next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E4F2EC"/>
                </a:solidFill>
                <a:latin typeface="Calibri"/>
              </a:rPr>
              <a:t>Hybrid (lexical + semantic) retrieval for exact fault codes.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E4F2EC"/>
                </a:solidFill>
                <a:latin typeface="Calibri"/>
              </a:rPr>
              <a:t>Real motor/VFD component photos to replace the generic MVTec subset.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E4F2EC"/>
                </a:solidFill>
                <a:latin typeface="Calibri"/>
              </a:rPr>
              <a:t>A live-blocking version of the Safety Validator inside the app itself.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4F2EC"/>
                </a:solidFill>
                <a:latin typeface="Calibri"/>
              </a:rPr>
              <a:t>A Safety Data Sheet corpus, for product-specific (not just equipment-general) precautions.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The Factory Floor — Industrial Maintenance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8A909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4F2EC"/>
                </a:solidFill>
                <a:latin typeface="Calibri"/>
              </a:rPr>
              <a:t>ALL 7 BOOTCAMP CORE REQUIREMENTS — ✅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Now,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7CDD3"/>
                </a:solidFill>
                <a:latin typeface="Calibri"/>
              </a:rPr>
              <a:t>A real question, a real photo, running against the deployed app — not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A9096"/>
                </a:solidFill>
                <a:latin typeface="Calibri"/>
              </a:rPr>
              <a:t>The Factory Floor — Industrial Maintenance Copilot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