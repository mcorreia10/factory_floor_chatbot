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1F2A33"/>
                </a:solidFill>
                <a:latin typeface="Calibri"/>
              </a:rPr>
              <a:t>Vertical Slice — One Real Question, End to 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B6168"/>
                </a:solidFill>
                <a:latin typeface="Calibri"/>
              </a:rPr>
              <a:t>No fault code involved — a real conflict between what the operator says and what the photo shows, traced through the whole system.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2331720" cy="2331720"/>
          </a:xfrm>
          <a:prstGeom prst="roundRect">
            <a:avLst>
              <a:gd name="adj" fmla="val 6000"/>
            </a:avLst>
          </a:prstGeom>
          <a:solidFill>
            <a:srgbClr val="F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5B6168"/>
                </a:solidFill>
                <a:latin typeface="Calibri"/>
              </a:rPr>
              <a:t>OPERATOR INPUT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2A33"/>
                </a:solidFill>
                <a:latin typeface="Calibri"/>
              </a:rPr>
              <a:t>Photo of a component +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2A33"/>
                </a:solidFill>
                <a:latin typeface="Calibri"/>
              </a:rPr>
              <a:t>"Just a tiny cosmetic scuff,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1F2A33"/>
                </a:solidFill>
                <a:latin typeface="Calibri"/>
              </a:rPr>
              <a:t>nothing serious, probably fine</a:t>
            </a:r>
          </a:p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F2A33"/>
                </a:solidFill>
                <a:latin typeface="Calibri"/>
              </a:rPr>
              <a:t>to keep running."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168"/>
                </a:solidFill>
                <a:latin typeface="Calibri"/>
              </a:rPr>
              <a:t>VFD-06 selected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71800" y="1554480"/>
            <a:ext cx="2331720" cy="2331720"/>
          </a:xfrm>
          <a:prstGeom prst="roundRect">
            <a:avLst>
              <a:gd name="adj" fmla="val 6000"/>
            </a:avLst>
          </a:prstGeom>
          <a:solidFill>
            <a:srgbClr val="0B6E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600"/>
              </a:spcAft>
            </a:pPr>
            <a:r>
              <a:rPr sz="1050" b="1" i="0">
                <a:solidFill>
                  <a:srgbClr val="E4F2EC"/>
                </a:solidFill>
                <a:latin typeface="Calibri"/>
              </a:rPr>
              <a:t>VISION TOOL — REAL, NOT SIMULATED</a:t>
            </a:r>
          </a:p>
          <a:p>
            <a:pPr algn="l"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classify_defect_trained(photo)</a:t>
            </a:r>
          </a:p>
          <a:p>
            <a:pPr algn="l">
              <a:spcAft>
                <a:spcPts val="1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→ structural_damage</a:t>
            </a:r>
          </a:p>
          <a:p>
            <a:pPr algn="l">
              <a:spcAft>
                <a:spcPts val="0"/>
              </a:spcAft>
            </a:pPr>
            <a:r>
              <a:rPr sz="1100" b="0" i="0">
                <a:solidFill>
                  <a:srgbClr val="E4F2EC"/>
                </a:solidFill>
                <a:latin typeface="Calibri"/>
              </a:rPr>
              <a:t>(82% confidence)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32120" y="1554480"/>
            <a:ext cx="2606040" cy="2331720"/>
          </a:xfrm>
          <a:prstGeom prst="roundRect">
            <a:avLst>
              <a:gd name="adj" fmla="val 6000"/>
            </a:avLst>
          </a:prstGeom>
          <a:solidFill>
            <a:srgbClr val="1F2A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C7CDD3"/>
                </a:solidFill>
                <a:latin typeface="Calibri"/>
              </a:rPr>
              <a:t>AGENT DECIDES</a:t>
            </a:r>
          </a:p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FFFFFF"/>
                </a:solidFill>
                <a:latin typeface="Calibri"/>
              </a:rPr>
              <a:t>Detects a real conflict:</a:t>
            </a:r>
          </a:p>
          <a:p>
            <a:pPr algn="l">
              <a:spcAft>
                <a:spcPts val="100"/>
              </a:spcAft>
            </a:pPr>
            <a:r>
              <a:rPr sz="1100" b="0" i="0">
                <a:solidFill>
                  <a:srgbClr val="C7CDD3"/>
                </a:solidFill>
                <a:latin typeface="Calibri"/>
              </a:rPr>
              <a:t>text says "minor" — vision says</a:t>
            </a:r>
          </a:p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C7CDD3"/>
                </a:solidFill>
                <a:latin typeface="Calibri"/>
              </a:rPr>
              <a:t>structural damage, high confidence</a:t>
            </a:r>
          </a:p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Chooses not to guess (rule 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66760" y="1554480"/>
            <a:ext cx="3429000" cy="2331720"/>
          </a:xfrm>
          <a:prstGeom prst="roundRect">
            <a:avLst>
              <a:gd name="adj" fmla="val 6000"/>
            </a:avLst>
          </a:prstGeom>
          <a:solidFill>
            <a:srgbClr val="C979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09728" bIns="109728"/>
          <a:lstStyle/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FBE3C0"/>
                </a:solidFill>
                <a:latin typeface="Calibri"/>
              </a:rPr>
              <a:t>FINAL OUTPUT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"Could you please clarify what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component or part the photo shows</a:t>
            </a:r>
          </a:p>
          <a:p>
            <a:pPr algn="l">
              <a:spcAft>
                <a:spcPts val="1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that was analyzed as having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structural damage?"</a:t>
            </a:r>
          </a:p>
          <a:p>
            <a:pPr algn="l">
              <a:spcAft>
                <a:spcPts val="0"/>
              </a:spcAft>
            </a:pPr>
            <a:r>
              <a:rPr sz="1050" b="0" i="0">
                <a:solidFill>
                  <a:srgbClr val="FBE3C0"/>
                </a:solidFill>
                <a:latin typeface="Calibri"/>
              </a:rPr>
              <a:t>Tools used: none — asked instead of guessing</a:t>
            </a:r>
          </a:p>
        </p:txBody>
      </p:sp>
      <p:sp>
        <p:nvSpPr>
          <p:cNvPr id="9" name="Chevron 8"/>
          <p:cNvSpPr/>
          <p:nvPr/>
        </p:nvSpPr>
        <p:spPr>
          <a:xfrm>
            <a:off x="2770632" y="2601468"/>
            <a:ext cx="173736" cy="237744"/>
          </a:xfrm>
          <a:prstGeom prst="chevron">
            <a:avLst/>
          </a:prstGeom>
          <a:solidFill>
            <a:srgbClr val="C7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evron 9"/>
          <p:cNvSpPr/>
          <p:nvPr/>
        </p:nvSpPr>
        <p:spPr>
          <a:xfrm>
            <a:off x="5330952" y="2601468"/>
            <a:ext cx="173736" cy="237744"/>
          </a:xfrm>
          <a:prstGeom prst="chevron">
            <a:avLst/>
          </a:prstGeom>
          <a:solidFill>
            <a:srgbClr val="C7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evron 10"/>
          <p:cNvSpPr/>
          <p:nvPr/>
        </p:nvSpPr>
        <p:spPr>
          <a:xfrm>
            <a:off x="8165592" y="2601468"/>
            <a:ext cx="173736" cy="237744"/>
          </a:xfrm>
          <a:prstGeom prst="chevron">
            <a:avLst/>
          </a:prstGeom>
          <a:solidFill>
            <a:srgbClr val="C7CD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1480" y="4251960"/>
            <a:ext cx="11384280" cy="1417320"/>
          </a:xfrm>
          <a:prstGeom prst="roundRect">
            <a:avLst>
              <a:gd name="adj" fmla="val 6000"/>
            </a:avLst>
          </a:prstGeom>
          <a:solidFill>
            <a:srgbClr val="F1F2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256032" tIns="146304" bIns="146304"/>
          <a:lstStyle/>
          <a:p>
            <a:pPr algn="l">
              <a:spcAft>
                <a:spcPts val="600"/>
              </a:spcAft>
            </a:pPr>
            <a:r>
              <a:rPr sz="1100" b="1" i="0">
                <a:solidFill>
                  <a:srgbClr val="0B6E4F"/>
                </a:solidFill>
                <a:latin typeface="Calibri"/>
              </a:rPr>
              <a:t>HOW TO VERIFY THIS IS REAL, LIVE IN THE APP</a:t>
            </a:r>
          </a:p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F2A33"/>
                </a:solidFill>
                <a:latin typeface="Calibri"/>
              </a:rPr>
              <a:t>"Tools used: none" is itself the proof — a fixed pipeline always runs the same steps; this agent skipped every tool and asked a question instead, because the two signals genuinely disagreed.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F2A33"/>
                </a:solidFill>
                <a:latin typeface="Calibri"/>
              </a:rPr>
              <a:t>The safety-first rule (rule 6) correctly does NOT add a precautions section here either — there is no physical action to perform yet, only a question.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630936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8A9096"/>
                </a:solidFill>
                <a:latin typeface="Calibri"/>
              </a:rPr>
              <a:t>The Factory Floor — Industrial Maintenance Copilot  ·  Vertical Slice Example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