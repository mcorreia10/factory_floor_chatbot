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F2A33"/>
                </a:solidFill>
                <a:latin typeface="Calibri"/>
              </a:rPr>
              <a:t>Vertical Slice — One Real Question,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B6168"/>
                </a:solidFill>
                <a:latin typeface="Calibri"/>
              </a:rPr>
              <a:t>A realistic operator report, verified live through vision, retrieval, and the agent — a complete answer, not a fragment.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1783080" cy="269748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5B6168"/>
                </a:solidFill>
                <a:latin typeface="Calibri"/>
              </a:rPr>
              <a:t>OPERATOR INPUT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F2A33"/>
                </a:solidFill>
                <a:latin typeface="Calibri"/>
              </a:rPr>
              <a:t>Photo of a damaged part +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F2A33"/>
                </a:solidFill>
                <a:latin typeface="Calibri"/>
              </a:rPr>
              <a:t>"Found this damaged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F2A33"/>
                </a:solidFill>
                <a:latin typeface="Calibri"/>
              </a:rPr>
              <a:t>component on VFD-06 during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F2A33"/>
                </a:solidFill>
                <a:latin typeface="Calibri"/>
              </a:rPr>
              <a:t>a routine inspection. What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1F2A33"/>
                </a:solidFill>
                <a:latin typeface="Calibri"/>
              </a:rPr>
              <a:t>should be checked before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A33"/>
                </a:solidFill>
                <a:latin typeface="Calibri"/>
              </a:rPr>
              <a:t>replacing it?"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B6168"/>
                </a:solidFill>
                <a:latin typeface="Calibri"/>
              </a:rPr>
              <a:t>VFD-06 selected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417320"/>
            <a:ext cx="1783080" cy="2697480"/>
          </a:xfrm>
          <a:prstGeom prst="roundRect">
            <a:avLst>
              <a:gd name="adj" fmla="val 5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E4F2EC"/>
                </a:solidFill>
                <a:latin typeface="Calibri"/>
              </a:rPr>
              <a:t>VISION TOOL</a:t>
            </a: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classify_defect_trained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→ structural_damage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E4F2EC"/>
                </a:solidFill>
                <a:latin typeface="Calibri"/>
              </a:rPr>
              <a:t>(96% confidence)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E4F2EC"/>
                </a:solidFill>
                <a:latin typeface="Calibri"/>
              </a:rPr>
              <a:t>Agrees with the operator's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E4F2EC"/>
                </a:solidFill>
                <a:latin typeface="Calibri"/>
              </a:rPr>
              <a:t>own description — no conflict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1783080" cy="2697480"/>
          </a:xfrm>
          <a:prstGeom prst="roundRect">
            <a:avLst>
              <a:gd name="adj" fmla="val 5000"/>
            </a:avLst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C7CDD3"/>
                </a:solidFill>
                <a:latin typeface="Calibri"/>
              </a:rPr>
              <a:t>AGENT DECIDES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Signals agree —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C7CDD3"/>
                </a:solidFill>
                <a:latin typeface="Calibri"/>
              </a:rPr>
              <a:t>needs grounded evidence,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C7CDD3"/>
                </a:solidFill>
                <a:latin typeface="Calibri"/>
              </a:rPr>
              <a:t>not general knowledge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Calls search_manuals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417320"/>
            <a:ext cx="2148840" cy="2697480"/>
          </a:xfrm>
          <a:prstGeom prst="roundRect">
            <a:avLst>
              <a:gd name="adj" fmla="val 5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E4F2EC"/>
                </a:solidFill>
                <a:latin typeface="Calibri"/>
              </a:rPr>
              <a:t>TOOLS CALLED — REAL, NOT SIMULATED</a:t>
            </a:r>
          </a:p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search_manuals(component</a:t>
            </a: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replacement + safety checks)</a:t>
            </a:r>
          </a:p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 5 real excerpts cited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E4F2EC"/>
                </a:solidFill>
                <a:latin typeface="Calibri"/>
              </a:rPr>
              <a:t>Siemens G120C List Manual,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E4F2EC"/>
                </a:solidFill>
                <a:latin typeface="Calibri"/>
              </a:rPr>
              <a:t>Operating Instructions —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E4F2EC"/>
                </a:solidFill>
                <a:latin typeface="Calibri"/>
              </a:rPr>
              <a:t>pages 430, 678, 740, 839, 840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417320"/>
            <a:ext cx="2862072" cy="2697480"/>
          </a:xfrm>
          <a:prstGeom prst="roundRect">
            <a:avLst>
              <a:gd name="adj" fmla="val 5000"/>
            </a:avLst>
          </a:prstGeom>
          <a:solidFill>
            <a:srgbClr val="C9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BE3C0"/>
                </a:solidFill>
                <a:latin typeface="Calibri"/>
              </a:rPr>
              <a:t>FINAL OUTPUT — COMPLETE ANSWER</a:t>
            </a:r>
          </a:p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Safety precautions first: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FBE3C0"/>
                </a:solidFill>
                <a:latin typeface="Calibri"/>
              </a:rPr>
              <a:t>isolate &amp; de-energize, lockout/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FBE3C0"/>
                </a:solidFill>
                <a:latin typeface="Calibri"/>
              </a:rPr>
              <a:t>tagout, discharge DC link,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FBE3C0"/>
                </a:solidFill>
                <a:latin typeface="Calibri"/>
              </a:rPr>
              <a:t>verify no voltage.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Then: identify component,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check cable connections,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update drive parameters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after replacement — cited.</a:t>
            </a:r>
          </a:p>
        </p:txBody>
      </p:sp>
      <p:sp>
        <p:nvSpPr>
          <p:cNvPr id="10" name="Chevron 9"/>
          <p:cNvSpPr/>
          <p:nvPr/>
        </p:nvSpPr>
        <p:spPr>
          <a:xfrm>
            <a:off x="2176272" y="2647188"/>
            <a:ext cx="219455" cy="237744"/>
          </a:xfrm>
          <a:prstGeom prst="chevron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233672" y="2647188"/>
            <a:ext cx="219456" cy="237744"/>
          </a:xfrm>
          <a:prstGeom prst="chevron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6291072" y="2647188"/>
            <a:ext cx="219455" cy="237744"/>
          </a:xfrm>
          <a:prstGeom prst="chevron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8714232" y="2647188"/>
            <a:ext cx="219456" cy="237744"/>
          </a:xfrm>
          <a:prstGeom prst="chevron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4343400"/>
            <a:ext cx="11430000" cy="1325880"/>
          </a:xfrm>
          <a:prstGeom prst="roundRect">
            <a:avLst>
              <a:gd name="adj" fmla="val 5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28016" bIns="128016"/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B6E4F"/>
                </a:solidFill>
                <a:latin typeface="Calibri"/>
              </a:rPr>
              <a:t>HOW TO VERIFY THIS IS REAL, LIVE IN THE APP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3"/>
                </a:solidFill>
                <a:latin typeface="Calibri"/>
              </a:rPr>
              <a:t>This exact conversation was run live against the deployed app, not hand-written: "Tools used: search_manuals" and the 5 cited pages come straight from that run.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3"/>
                </a:solidFill>
                <a:latin typeface="Calibri"/>
              </a:rPr>
              <a:t>Safety precautions came first because rule 6 requires it whenever a physical action is recommended — confirmed here, not assumed.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1722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096"/>
                </a:solidFill>
                <a:latin typeface="Calibri"/>
              </a:rPr>
              <a:t>The Factory Floor — Industrial Maintenance Copilot  ·  Vertical Slice 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