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8" r:id="rId2"/>
    <p:sldId id="259" r:id="rId3"/>
    <p:sldId id="260" r:id="rId4"/>
    <p:sldId id="261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59E07-5085-BB97-25A7-750EC969BAAD}" v="1" dt="2026-08-15T12:18:50.029"/>
    <p1510:client id="{29065805-ADF3-DBC1-B675-41842E816DFC}" v="42" dt="2026-08-15T08:21:29.645"/>
    <p1510:client id="{2CCBA06A-A69F-87C8-23AC-35DB1F517B6B}" v="553" dt="2026-08-13T18:45:39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o Correia" userId="009363dc3a04294a" providerId="Windows Live" clId="Web-{29065805-ADF3-DBC1-B675-41842E816DFC}"/>
    <pc:docChg chg="addSld modSld">
      <pc:chgData name="Marcelo Correia" userId="009363dc3a04294a" providerId="Windows Live" clId="Web-{29065805-ADF3-DBC1-B675-41842E816DFC}" dt="2026-08-15T08:21:29.645" v="41"/>
      <pc:docMkLst>
        <pc:docMk/>
      </pc:docMkLst>
      <pc:sldChg chg="addSp delSp modSp">
        <pc:chgData name="Marcelo Correia" userId="009363dc3a04294a" providerId="Windows Live" clId="Web-{29065805-ADF3-DBC1-B675-41842E816DFC}" dt="2026-08-15T08:16:28.463" v="39" actId="20577"/>
        <pc:sldMkLst>
          <pc:docMk/>
          <pc:sldMk cId="3635635388" sldId="259"/>
        </pc:sldMkLst>
        <pc:spChg chg="mod">
          <ac:chgData name="Marcelo Correia" userId="009363dc3a04294a" providerId="Windows Live" clId="Web-{29065805-ADF3-DBC1-B675-41842E816DFC}" dt="2026-08-15T08:16:23.072" v="37" actId="20577"/>
          <ac:spMkLst>
            <pc:docMk/>
            <pc:sldMk cId="3635635388" sldId="259"/>
            <ac:spMk id="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6:28.463" v="39" actId="20577"/>
          <ac:spMkLst>
            <pc:docMk/>
            <pc:sldMk cId="3635635388" sldId="259"/>
            <ac:spMk id="5" creationId="{00000000-0000-0000-0000-000000000000}"/>
          </ac:spMkLst>
        </pc:spChg>
        <pc:spChg chg="add del">
          <ac:chgData name="Marcelo Correia" userId="009363dc3a04294a" providerId="Windows Live" clId="Web-{29065805-ADF3-DBC1-B675-41842E816DFC}" dt="2026-08-15T08:14:24.428" v="18"/>
          <ac:spMkLst>
            <pc:docMk/>
            <pc:sldMk cId="3635635388" sldId="259"/>
            <ac:spMk id="16" creationId="{17924C36-21E4-92E8-8EC1-55CDF590326D}"/>
          </ac:spMkLst>
        </pc:spChg>
        <pc:spChg chg="mod">
          <ac:chgData name="Marcelo Correia" userId="009363dc3a04294a" providerId="Windows Live" clId="Web-{29065805-ADF3-DBC1-B675-41842E816DFC}" dt="2026-08-15T08:11:54.468" v="4"/>
          <ac:spMkLst>
            <pc:docMk/>
            <pc:sldMk cId="3635635388" sldId="259"/>
            <ac:spMk id="24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1:33.514" v="2"/>
          <ac:spMkLst>
            <pc:docMk/>
            <pc:sldMk cId="3635635388" sldId="259"/>
            <ac:spMk id="25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34.959" v="19"/>
          <ac:spMkLst>
            <pc:docMk/>
            <pc:sldMk cId="3635635388" sldId="259"/>
            <ac:spMk id="26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2:05.406" v="8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53.476" v="21"/>
          <ac:spMkLst>
            <pc:docMk/>
            <pc:sldMk cId="3635635388" sldId="259"/>
            <ac:spMk id="31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4:45.960" v="20"/>
          <ac:spMkLst>
            <pc:docMk/>
            <pc:sldMk cId="3635635388" sldId="259"/>
            <ac:spMk id="32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22.695" v="32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38.190" v="16"/>
          <ac:spMkLst>
            <pc:docMk/>
            <pc:sldMk cId="3635635388" sldId="259"/>
            <ac:spMk id="38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9.268" v="15"/>
          <ac:spMkLst>
            <pc:docMk/>
            <pc:sldMk cId="3635635388" sldId="259"/>
            <ac:spMk id="39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3:20.111" v="14"/>
          <ac:spMkLst>
            <pc:docMk/>
            <pc:sldMk cId="3635635388" sldId="259"/>
            <ac:spMk id="40" creationId="{00000000-0000-0000-0000-000000000000}"/>
          </ac:spMkLst>
        </pc:spChg>
        <pc:spChg chg="mod">
          <ac:chgData name="Marcelo Correia" userId="009363dc3a04294a" providerId="Windows Live" clId="Web-{29065805-ADF3-DBC1-B675-41842E816DFC}" dt="2026-08-15T08:15:35.258" v="36" actId="20577"/>
          <ac:spMkLst>
            <pc:docMk/>
            <pc:sldMk cId="3635635388" sldId="259"/>
            <ac:spMk id="44" creationId="{00000000-0000-0000-0000-000000000000}"/>
          </ac:spMkLst>
        </pc:spChg>
      </pc:sldChg>
      <pc:sldChg chg="addSp modSp new">
        <pc:chgData name="Marcelo Correia" userId="009363dc3a04294a" providerId="Windows Live" clId="Web-{29065805-ADF3-DBC1-B675-41842E816DFC}" dt="2026-08-15T08:21:29.645" v="41"/>
        <pc:sldMkLst>
          <pc:docMk/>
          <pc:sldMk cId="918811434" sldId="260"/>
        </pc:sldMkLst>
        <pc:picChg chg="add mod">
          <ac:chgData name="Marcelo Correia" userId="009363dc3a04294a" providerId="Windows Live" clId="Web-{29065805-ADF3-DBC1-B675-41842E816DFC}" dt="2026-08-15T08:21:29.645" v="41"/>
          <ac:picMkLst>
            <pc:docMk/>
            <pc:sldMk cId="918811434" sldId="260"/>
            <ac:picMk id="2" creationId="{8E1F1B56-D6ED-37F6-4CF8-39AF004BA532}"/>
          </ac:picMkLst>
        </pc:picChg>
      </pc:sldChg>
    </pc:docChg>
  </pc:docChgLst>
  <pc:docChgLst>
    <pc:chgData name="Marcelo Correia" userId="009363dc3a04294a" providerId="Windows Live" clId="Web-{28759E07-5085-BB97-25A7-750EC969BAAD}"/>
    <pc:docChg chg="delSld">
      <pc:chgData name="Marcelo Correia" userId="009363dc3a04294a" providerId="Windows Live" clId="Web-{28759E07-5085-BB97-25A7-750EC969BAAD}" dt="2026-08-15T12:18:50.029" v="0"/>
      <pc:docMkLst>
        <pc:docMk/>
      </pc:docMkLst>
      <pc:sldChg chg="del">
        <pc:chgData name="Marcelo Correia" userId="009363dc3a04294a" providerId="Windows Live" clId="Web-{28759E07-5085-BB97-25A7-750EC969BAAD}" dt="2026-08-15T12:18:50.029" v="0"/>
        <pc:sldMkLst>
          <pc:docMk/>
          <pc:sldMk cId="918811434" sldId="260"/>
        </pc:sldMkLst>
      </pc:sldChg>
    </pc:docChg>
  </pc:docChgLst>
  <pc:docChgLst>
    <pc:chgData name="Marcelo Correia" userId="009363dc3a04294a" providerId="Windows Live" clId="Web-{2CCBA06A-A69F-87C8-23AC-35DB1F517B6B}"/>
    <pc:docChg chg="addSld delSld modSld sldOrd">
      <pc:chgData name="Marcelo Correia" userId="009363dc3a04294a" providerId="Windows Live" clId="Web-{2CCBA06A-A69F-87C8-23AC-35DB1F517B6B}" dt="2026-08-13T18:45:39.847" v="530" actId="20577"/>
      <pc:docMkLst>
        <pc:docMk/>
      </pc:docMkLst>
      <pc:sldChg chg="delSp modSp add ord">
        <pc:chgData name="Marcelo Correia" userId="009363dc3a04294a" providerId="Windows Live" clId="Web-{2CCBA06A-A69F-87C8-23AC-35DB1F517B6B}" dt="2026-08-13T18:08:44.513" v="440" actId="20577"/>
        <pc:sldMkLst>
          <pc:docMk/>
          <pc:sldMk cId="0" sldId="258"/>
        </pc:sldMkLst>
        <pc:spChg chg="mod">
          <ac:chgData name="Marcelo Correia" userId="009363dc3a04294a" providerId="Windows Live" clId="Web-{2CCBA06A-A69F-87C8-23AC-35DB1F517B6B}" dt="2026-08-13T17:15:42.939" v="91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02.299" v="107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16:21.113" v="111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6:36.383" v="439" actId="2057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1:10.997" v="197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2:19.094" v="248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9.140" v="394" actId="14100"/>
          <ac:spMkLst>
            <pc:docMk/>
            <pc:sldMk cId="0" sldId="258"/>
            <ac:spMk id="3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3:53.613" v="280" actId="2057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01" v="384" actId="107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17" v="385" actId="1076"/>
          <ac:spMkLst>
            <pc:docMk/>
            <pc:sldMk cId="0" sldId="258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32" v="386" actId="1076"/>
          <ac:spMkLst>
            <pc:docMk/>
            <pc:sldMk cId="0" sldId="258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41.264" v="391" actId="1076"/>
          <ac:spMkLst>
            <pc:docMk/>
            <pc:sldMk cId="0" sldId="258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264" v="387" actId="1076"/>
          <ac:spMkLst>
            <pc:docMk/>
            <pc:sldMk cId="0" sldId="258"/>
            <ac:spMk id="4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08:44.513" v="440" actId="20577"/>
          <ac:spMkLst>
            <pc:docMk/>
            <pc:sldMk cId="0" sldId="258"/>
            <ac:spMk id="4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53.171" v="393" actId="1076"/>
          <ac:spMkLst>
            <pc:docMk/>
            <pc:sldMk cId="0" sldId="258"/>
            <ac:spMk id="4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9:17.640" v="396" actId="14100"/>
          <ac:spMkLst>
            <pc:docMk/>
            <pc:sldMk cId="0" sldId="258"/>
            <ac:spMk id="4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7:48:32.310" v="390" actId="1076"/>
          <ac:spMkLst>
            <pc:docMk/>
            <pc:sldMk cId="0" sldId="258"/>
            <ac:spMk id="49" creationId="{00000000-0000-0000-0000-000000000000}"/>
          </ac:spMkLst>
        </pc:spChg>
      </pc:sldChg>
      <pc:sldChg chg="modSp add">
        <pc:chgData name="Marcelo Correia" userId="009363dc3a04294a" providerId="Windows Live" clId="Web-{2CCBA06A-A69F-87C8-23AC-35DB1F517B6B}" dt="2026-08-13T18:45:39.847" v="530" actId="20577"/>
        <pc:sldMkLst>
          <pc:docMk/>
          <pc:sldMk cId="3635635388" sldId="259"/>
        </pc:sldMkLst>
        <pc:spChg chg="mod">
          <ac:chgData name="Marcelo Correia" userId="009363dc3a04294a" providerId="Windows Live" clId="Web-{2CCBA06A-A69F-87C8-23AC-35DB1F517B6B}" dt="2026-08-13T18:04:57.894" v="428" actId="20577"/>
          <ac:spMkLst>
            <pc:docMk/>
            <pc:sldMk cId="3635635388" sldId="259"/>
            <ac:spMk id="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382" v="501" actId="1076"/>
          <ac:spMkLst>
            <pc:docMk/>
            <pc:sldMk cId="3635635388" sldId="259"/>
            <ac:spMk id="2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243" v="510" actId="1076"/>
          <ac:spMkLst>
            <pc:docMk/>
            <pc:sldMk cId="3635635388" sldId="259"/>
            <ac:spMk id="2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1.878" v="528" actId="20577"/>
          <ac:spMkLst>
            <pc:docMk/>
            <pc:sldMk cId="3635635388" sldId="259"/>
            <ac:spMk id="2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29" v="502" actId="1076"/>
          <ac:spMkLst>
            <pc:docMk/>
            <pc:sldMk cId="3635635388" sldId="259"/>
            <ac:spMk id="2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06" v="512" actId="1076"/>
          <ac:spMkLst>
            <pc:docMk/>
            <pc:sldMk cId="3635635388" sldId="259"/>
            <ac:spMk id="2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6.597" v="529" actId="20577"/>
          <ac:spMkLst>
            <pc:docMk/>
            <pc:sldMk cId="3635635388" sldId="259"/>
            <ac:spMk id="3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476" v="503" actId="1076"/>
          <ac:spMkLst>
            <pc:docMk/>
            <pc:sldMk cId="3635635388" sldId="259"/>
            <ac:spMk id="3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384" v="514" actId="1076"/>
          <ac:spMkLst>
            <pc:docMk/>
            <pc:sldMk cId="3635635388" sldId="259"/>
            <ac:spMk id="3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45:39.847" v="530" actId="20577"/>
          <ac:spMkLst>
            <pc:docMk/>
            <pc:sldMk cId="3635635388" sldId="259"/>
            <ac:spMk id="3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07" v="504" actId="1076"/>
          <ac:spMkLst>
            <pc:docMk/>
            <pc:sldMk cId="3635635388" sldId="259"/>
            <ac:spMk id="4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62" v="516" actId="1076"/>
          <ac:spMkLst>
            <pc:docMk/>
            <pc:sldMk cId="3635635388" sldId="259"/>
            <ac:spMk id="4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53" v="522" actId="1076"/>
          <ac:spMkLst>
            <pc:docMk/>
            <pc:sldMk cId="3635635388" sldId="259"/>
            <ac:spMk id="4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554" v="505" actId="1076"/>
          <ac:spMkLst>
            <pc:docMk/>
            <pc:sldMk cId="3635635388" sldId="259"/>
            <ac:spMk id="49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493" v="517" actId="1076"/>
          <ac:spMkLst>
            <pc:docMk/>
            <pc:sldMk cId="3635635388" sldId="259"/>
            <ac:spMk id="5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885" v="523" actId="1076"/>
          <ac:spMkLst>
            <pc:docMk/>
            <pc:sldMk cId="3635635388" sldId="259"/>
            <ac:spMk id="5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01" v="506" actId="1076"/>
          <ac:spMkLst>
            <pc:docMk/>
            <pc:sldMk cId="3635635388" sldId="259"/>
            <ac:spMk id="56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24" v="518" actId="1076"/>
          <ac:spMkLst>
            <pc:docMk/>
            <pc:sldMk cId="3635635388" sldId="259"/>
            <ac:spMk id="5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32" v="524" actId="1076"/>
          <ac:spMkLst>
            <pc:docMk/>
            <pc:sldMk cId="3635635388" sldId="259"/>
            <ac:spMk id="5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48" v="507" actId="1076"/>
          <ac:spMkLst>
            <pc:docMk/>
            <pc:sldMk cId="3635635388" sldId="259"/>
            <ac:spMk id="63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182" v="526" actId="1076"/>
          <ac:spMkLst>
            <pc:docMk/>
            <pc:sldMk cId="3635635388" sldId="259"/>
            <ac:spMk id="64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571" v="519" actId="1076"/>
          <ac:spMkLst>
            <pc:docMk/>
            <pc:sldMk cId="3635635388" sldId="259"/>
            <ac:spMk id="65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679" v="508" actId="1076"/>
          <ac:spMkLst>
            <pc:docMk/>
            <pc:sldMk cId="3635635388" sldId="259"/>
            <ac:spMk id="70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8:06.214" v="527" actId="1076"/>
          <ac:spMkLst>
            <pc:docMk/>
            <pc:sldMk cId="3635635388" sldId="259"/>
            <ac:spMk id="71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03" v="520" actId="1076"/>
          <ac:spMkLst>
            <pc:docMk/>
            <pc:sldMk cId="3635635388" sldId="259"/>
            <ac:spMk id="72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6:44.726" v="509" actId="1076"/>
          <ac:spMkLst>
            <pc:docMk/>
            <pc:sldMk cId="3635635388" sldId="259"/>
            <ac:spMk id="77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24.649" v="521" actId="1076"/>
          <ac:spMkLst>
            <pc:docMk/>
            <pc:sldMk cId="3635635388" sldId="259"/>
            <ac:spMk id="78" creationId="{00000000-0000-0000-0000-000000000000}"/>
          </ac:spMkLst>
        </pc:spChg>
        <pc:spChg chg="mod">
          <ac:chgData name="Marcelo Correia" userId="009363dc3a04294a" providerId="Windows Live" clId="Web-{2CCBA06A-A69F-87C8-23AC-35DB1F517B6B}" dt="2026-08-13T18:27:48.963" v="525" actId="1076"/>
          <ac:spMkLst>
            <pc:docMk/>
            <pc:sldMk cId="3635635388" sldId="259"/>
            <ac:spMk id="7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A6EFE4-248D-47FC-B3DC-A56DB74DF46B}" type="datetimeFigureOut">
              <a:t>19/08/2026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923A77-DAC6-4696-A5EA-6835FA94CBD3}" type="slidenum"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3222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1F2A33"/>
                </a:solidFill>
                <a:latin typeface="Cambria"/>
                <a:ea typeface="Cambria"/>
                <a:cs typeface="Cambria" pitchFamily="34" charset="-120"/>
              </a:rPr>
              <a:t>Copilot Diagnostic Pipeline Architecture</a:t>
            </a:r>
            <a:endParaRPr lang="en-US" sz="2800">
              <a:latin typeface="Cambria"/>
              <a:ea typeface="Cambria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</a:t>
            </a:r>
            <a:r>
              <a:rPr lang="en-US" sz="12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Drives)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319065" y="10972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319065" y="10972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6305" y="1389888"/>
            <a:ext cx="0" cy="146304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130345" y="1536192"/>
            <a:ext cx="3931920" cy="530352"/>
          </a:xfrm>
          <a:prstGeom prst="roundRect">
            <a:avLst>
              <a:gd name="adj" fmla="val 15517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203497" y="1536192"/>
            <a:ext cx="3785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Agent</a:t>
            </a:r>
            <a:endParaRPr lang="en-US" sz="15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C7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tools · decides next evidence to gather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01796" y="1611489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0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across the conversation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96305" y="2066544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3398825" y="2194560"/>
            <a:ext cx="539496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339882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609630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8793785" y="2194560"/>
            <a:ext cx="0" cy="12801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221010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228325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Reads equipment nameplate + fault-code and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sees an ima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ge</a:t>
            </a:r>
            <a:endParaRPr lang="en-US" sz="1350" dirty="0">
              <a:latin typeface="Calibri"/>
              <a:ea typeface="Calibri"/>
              <a:cs typeface="Calibri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90758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498073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Consults the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history</a:t>
            </a: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 of this machine</a:t>
            </a:r>
          </a:p>
        </p:txBody>
      </p:sp>
      <p:sp>
        <p:nvSpPr>
          <p:cNvPr id="20" name="Shape 18"/>
          <p:cNvSpPr/>
          <p:nvPr/>
        </p:nvSpPr>
        <p:spPr>
          <a:xfrm>
            <a:off x="7605065" y="2322576"/>
            <a:ext cx="2377440" cy="512064"/>
          </a:xfrm>
          <a:prstGeom prst="roundRect">
            <a:avLst>
              <a:gd name="adj" fmla="val 16071"/>
            </a:avLst>
          </a:prstGeom>
          <a:solidFill>
            <a:srgbClr val="0B6E4F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7678217" y="232257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Tool</a:t>
            </a:r>
            <a:endParaRPr lang="en-US" sz="135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Does retrieval from the doc gathered. Search in </a:t>
            </a:r>
            <a:r>
              <a:rPr lang="en-US" sz="900">
                <a:solidFill>
                  <a:srgbClr val="E4F2EC"/>
                </a:solidFill>
                <a:latin typeface="Calibri"/>
                <a:ea typeface="Calibri"/>
                <a:cs typeface="Calibri"/>
              </a:rPr>
              <a:t>manuals and SDS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39882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3" name="Shape 21"/>
          <p:cNvSpPr/>
          <p:nvPr/>
        </p:nvSpPr>
        <p:spPr>
          <a:xfrm>
            <a:off x="6096305" y="2834640"/>
            <a:ext cx="0" cy="132588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793785" y="2834640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7879385" y="2944368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26" name="Shape 24"/>
          <p:cNvSpPr/>
          <p:nvPr/>
        </p:nvSpPr>
        <p:spPr>
          <a:xfrm>
            <a:off x="78793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7" name="Shape 25"/>
          <p:cNvSpPr/>
          <p:nvPr/>
        </p:nvSpPr>
        <p:spPr>
          <a:xfrm>
            <a:off x="9708185" y="2944368"/>
            <a:ext cx="0" cy="9144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8" name="Shape 26"/>
          <p:cNvSpPr/>
          <p:nvPr/>
        </p:nvSpPr>
        <p:spPr>
          <a:xfrm>
            <a:off x="71021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71752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motor / VFD PDFs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30945" y="3035808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9004097" y="3035808"/>
            <a:ext cx="14081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data sheets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8793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3" name="Shape 31"/>
          <p:cNvSpPr/>
          <p:nvPr/>
        </p:nvSpPr>
        <p:spPr>
          <a:xfrm>
            <a:off x="9708185" y="3438144"/>
            <a:ext cx="0" cy="82296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4" name="Shape 32"/>
          <p:cNvSpPr/>
          <p:nvPr/>
        </p:nvSpPr>
        <p:spPr>
          <a:xfrm>
            <a:off x="7879385" y="3520440"/>
            <a:ext cx="1828800" cy="0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none"/>
          </a:ln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8793785" y="3520440"/>
            <a:ext cx="0" cy="6400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6" name="Shape 34"/>
          <p:cNvSpPr/>
          <p:nvPr/>
        </p:nvSpPr>
        <p:spPr>
          <a:xfrm>
            <a:off x="7879385" y="3584448"/>
            <a:ext cx="1828800" cy="457200"/>
          </a:xfrm>
          <a:prstGeom prst="can">
            <a:avLst/>
          </a:prstGeom>
          <a:solidFill>
            <a:srgbClr val="F1F2F3"/>
          </a:solidFill>
          <a:ln w="19050">
            <a:solidFill>
              <a:srgbClr val="9AA0A6"/>
            </a:solidFill>
            <a:prstDash val="solid"/>
          </a:ln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7879385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Chroma store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793785" y="4041648"/>
            <a:ext cx="0" cy="118872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2249616" y="4132298"/>
            <a:ext cx="7732889" cy="381564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  <a:effectLst>
            <a:outerShdw blurRad="50800" dist="25400" dir="5400000" algn="bl" rotWithShape="0">
              <a:srgbClr val="3A3A3A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2210105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AGGREGATION</a:t>
            </a:r>
          </a:p>
          <a:p>
            <a:pPr algn="ctr"/>
            <a:r>
              <a:rPr lang="en-US" sz="800" b="1" kern="0" spc="150">
                <a:solidFill>
                  <a:srgbClr val="FFFFFF"/>
                </a:solidFill>
                <a:ea typeface="Calibri"/>
                <a:cs typeface="Calibri"/>
              </a:rPr>
              <a:t>Joins all the above info, before giving an answer</a:t>
            </a:r>
          </a:p>
        </p:txBody>
      </p:sp>
      <p:sp>
        <p:nvSpPr>
          <p:cNvPr id="41" name="Shape 39"/>
          <p:cNvSpPr/>
          <p:nvPr/>
        </p:nvSpPr>
        <p:spPr>
          <a:xfrm>
            <a:off x="6101949" y="450957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2" name="Shape 40"/>
          <p:cNvSpPr/>
          <p:nvPr/>
        </p:nvSpPr>
        <p:spPr>
          <a:xfrm>
            <a:off x="4135989" y="461930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3" name="Text 41"/>
          <p:cNvSpPr/>
          <p:nvPr/>
        </p:nvSpPr>
        <p:spPr>
          <a:xfrm>
            <a:off x="4209141" y="461930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Reasoning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LLM does the synthesis over all these evidences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096305" y="505821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4135989" y="5167940"/>
            <a:ext cx="3931920" cy="438912"/>
          </a:xfrm>
          <a:prstGeom prst="roundRect">
            <a:avLst>
              <a:gd name="adj" fmla="val 18750"/>
            </a:avLst>
          </a:prstGeom>
          <a:solidFill>
            <a:srgbClr val="C9791A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4209141" y="5167940"/>
            <a:ext cx="3785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400" dirty="0"/>
          </a:p>
          <a:p>
            <a:pPr algn="ctr">
              <a:lnSpc>
                <a:spcPct val="115000"/>
              </a:lnSpc>
            </a:pP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Will give safety </a:t>
            </a:r>
            <a:r>
              <a:rPr lang="en-US" sz="900" dirty="0" err="1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instruccions</a:t>
            </a:r>
            <a:r>
              <a:rPr lang="en-US" sz="900" dirty="0">
                <a:solidFill>
                  <a:srgbClr val="FBE3C0"/>
                </a:solidFill>
                <a:latin typeface="Calibri"/>
                <a:ea typeface="Calibri"/>
                <a:cs typeface="Calibri"/>
              </a:rPr>
              <a:t> for each operation to perform before the answer</a:t>
            </a:r>
            <a:endParaRPr lang="en-US" sz="900" dirty="0">
              <a:solidFill>
                <a:srgbClr val="FBE3C0"/>
              </a:solidFill>
              <a:ea typeface="Calibri"/>
              <a:cs typeface="Calibri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096305" y="5606852"/>
            <a:ext cx="0" cy="109728"/>
          </a:xfrm>
          <a:prstGeom prst="line">
            <a:avLst/>
          </a:prstGeom>
          <a:noFill/>
          <a:ln w="22225">
            <a:solidFill>
              <a:srgbClr val="8A9096"/>
            </a:solidFill>
            <a:prstDash val="solid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48" name="Shape 46"/>
          <p:cNvSpPr/>
          <p:nvPr/>
        </p:nvSpPr>
        <p:spPr>
          <a:xfrm>
            <a:off x="3998829" y="5716580"/>
            <a:ext cx="4206240" cy="438912"/>
          </a:xfrm>
          <a:prstGeom prst="roundRect">
            <a:avLst>
              <a:gd name="adj" fmla="val 18750"/>
            </a:avLst>
          </a:prstGeom>
          <a:solidFill>
            <a:srgbClr val="1F2A33"/>
          </a:solidFill>
          <a:ln/>
          <a:effectLst>
            <a:outerShdw blurRad="508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9" name="Text 47"/>
          <p:cNvSpPr/>
          <p:nvPr/>
        </p:nvSpPr>
        <p:spPr>
          <a:xfrm>
            <a:off x="4071981" y="571658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 Recommended Actions</a:t>
            </a:r>
            <a:endParaRPr lang="en-US" sz="1350" dirty="0"/>
          </a:p>
          <a:p>
            <a:pPr algn="ctr">
              <a:lnSpc>
                <a:spcPct val="114999"/>
              </a:lnSpc>
            </a:pP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Final answer with </a:t>
            </a:r>
            <a:r>
              <a:rPr lang="en-US" sz="900" b="1" i="1" u="sng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Citations </a:t>
            </a:r>
            <a:r>
              <a:rPr lang="en-US" sz="900">
                <a:solidFill>
                  <a:srgbClr val="C7CDD3"/>
                </a:solidFill>
                <a:latin typeface="Calibri"/>
                <a:ea typeface="Calibri"/>
                <a:cs typeface="Calibri"/>
              </a:rPr>
              <a:t>from the source</a:t>
            </a:r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57200" y="43982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57200" y="46177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F2A3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4"/>
          <p:cNvSpPr/>
          <p:nvPr/>
        </p:nvSpPr>
        <p:spPr>
          <a:xfrm>
            <a:off x="713232" y="4572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reasoning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48920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713232" y="4846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5166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0" name="Text 58"/>
          <p:cNvSpPr/>
          <p:nvPr/>
        </p:nvSpPr>
        <p:spPr>
          <a:xfrm>
            <a:off x="713232" y="5120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5720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9791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2" name="Text 60"/>
          <p:cNvSpPr/>
          <p:nvPr/>
        </p:nvSpPr>
        <p:spPr>
          <a:xfrm>
            <a:off x="713232" y="5394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Roadmap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The Factory Floor — Industrial Maintenance Copilot (Motors + Variable-Frequency Drives)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>
                <a:solidFill>
                  <a:srgbClr val="C9791A"/>
                </a:solidFill>
                <a:latin typeface="Cambria"/>
                <a:ea typeface="Cambria"/>
                <a:cs typeface="Cambria" pitchFamily="34" charset="-120"/>
              </a:rPr>
              <a:t>100%</a:t>
            </a:r>
            <a:endParaRPr lang="en-US" sz="6600">
              <a:latin typeface="Cambria"/>
              <a:ea typeface="Cambria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50" dirty="0"/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9 of 9 notebooks</a:t>
            </a:r>
            <a:endParaRPr lang="en-US" sz="1250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2377440" cy="201168"/>
          </a:xfrm>
          <a:prstGeom prst="roundRect">
            <a:avLst>
              <a:gd name="adj" fmla="val 27273"/>
            </a:avLst>
          </a:prstGeom>
          <a:solidFill>
            <a:srgbClr val="F1F2F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1056640" cy="201168"/>
          </a:xfrm>
          <a:prstGeom prst="roundRect">
            <a:avLst>
              <a:gd name="adj" fmla="val 27273"/>
            </a:avLst>
          </a:prstGeom>
          <a:solidFill>
            <a:srgbClr val="C9791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146304" cy="146304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713232" y="3648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078224"/>
            <a:ext cx="146304" cy="146304"/>
          </a:xfrm>
          <a:prstGeom prst="ellipse">
            <a:avLst/>
          </a:prstGeom>
          <a:solidFill>
            <a:srgbClr val="C98F1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713232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Going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425696"/>
            <a:ext cx="146304" cy="146304"/>
          </a:xfrm>
          <a:prstGeom prst="ellipse">
            <a:avLst/>
          </a:prstGeom>
          <a:solidFill>
            <a:srgbClr val="BF5B2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713232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146304" cy="146304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713232" y="46908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5468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Shape 16"/>
          <p:cNvSpPr/>
          <p:nvPr/>
        </p:nvSpPr>
        <p:spPr>
          <a:xfrm>
            <a:off x="333756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333756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9271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34472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00"/>
              </a:spcAft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read the manual PDFs, page by page.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tag each page (which manual, page number, equipment type).</a:t>
            </a:r>
            <a:endParaRPr lang="en-US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>
                <a:solidFill>
                  <a:srgbClr val="5B6168"/>
                </a:solidFill>
                <a:latin typeface="Calibri"/>
                <a:ea typeface="Calibri"/>
                <a:cs typeface="Calibri"/>
              </a:rPr>
              <a:t>We prepare everything for the next step — no AI involved yet.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7210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21"/>
          <p:cNvSpPr/>
          <p:nvPr/>
        </p:nvSpPr>
        <p:spPr>
          <a:xfrm>
            <a:off x="437210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/>
                <a:ea typeface="Calibri"/>
                <a:cs typeface="Calibri"/>
              </a:rPr>
              <a:t>Done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C98F1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626364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02</a:t>
            </a:r>
          </a:p>
        </p:txBody>
      </p:sp>
      <p:sp>
        <p:nvSpPr>
          <p:cNvPr id="27" name="Text 25"/>
          <p:cNvSpPr/>
          <p:nvPr/>
        </p:nvSpPr>
        <p:spPr>
          <a:xfrm>
            <a:off x="6718794" y="14904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&amp; Retriever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27080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split the text into smaller chunks.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turn each chunk into a vector (embedding) and store it in a database (Chroma).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the search engine that finds the most relevant chunks.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298180" y="2605284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7298180" y="260528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006840" y="128016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2" name="Shape 30"/>
          <p:cNvSpPr/>
          <p:nvPr/>
        </p:nvSpPr>
        <p:spPr>
          <a:xfrm>
            <a:off x="9189720" y="142646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918972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70444" y="1459808"/>
            <a:ext cx="1671696" cy="33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Citations + App Demonstration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196884" y="184715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user's question retrieves the most relevant chunks from the vector database.</a:t>
            </a:r>
            <a:endParaRPr lang="en-US" sz="80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language model answers using only that information, citing the source.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demo all of this working through an interface (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Streamlit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0224260" y="2605284"/>
            <a:ext cx="10241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7" name="Text 35"/>
          <p:cNvSpPr/>
          <p:nvPr/>
        </p:nvSpPr>
        <p:spPr>
          <a:xfrm>
            <a:off x="10224260" y="2605284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latin typeface="Calibri"/>
                <a:ea typeface="Calibri"/>
                <a:cs typeface="Calibri"/>
              </a:rPr>
              <a:t>Done</a:t>
            </a:r>
            <a:endParaRPr lang="en-US" sz="9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15468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CEDC7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9" name="Shape 37"/>
          <p:cNvSpPr/>
          <p:nvPr/>
        </p:nvSpPr>
        <p:spPr>
          <a:xfrm>
            <a:off x="3337560" y="3300984"/>
            <a:ext cx="347472" cy="347472"/>
          </a:xfrm>
          <a:prstGeom prst="ellipse">
            <a:avLst/>
          </a:prstGeom>
          <a:solidFill>
            <a:srgbClr val="C98F1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0" name="Text 38"/>
          <p:cNvSpPr/>
          <p:nvPr/>
        </p:nvSpPr>
        <p:spPr>
          <a:xfrm>
            <a:off x="333756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79271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History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34472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a simulated history of faults and repairs per machine.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store it in structured form (like a table), not free text.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 function that returns the history for a specific machine.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37210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4" name="Text 42"/>
          <p:cNvSpPr/>
          <p:nvPr/>
        </p:nvSpPr>
        <p:spPr>
          <a:xfrm>
            <a:off x="437210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>
                <a:solidFill>
                  <a:srgbClr val="C98F12"/>
                </a:solidFill>
                <a:ea typeface="Calibri"/>
                <a:cs typeface="Calibri"/>
              </a:rPr>
              <a:t>Done</a:t>
            </a:r>
            <a:endParaRPr lang="en-US" sz="900" b="1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08076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BE1C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6" name="Shape 44"/>
          <p:cNvSpPr/>
          <p:nvPr/>
        </p:nvSpPr>
        <p:spPr>
          <a:xfrm>
            <a:off x="6263640" y="3300984"/>
            <a:ext cx="347472" cy="347472"/>
          </a:xfrm>
          <a:prstGeom prst="ellipse">
            <a:avLst/>
          </a:prstGeom>
          <a:solidFill>
            <a:srgbClr val="BF5B23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7" name="Text 45"/>
          <p:cNvSpPr/>
          <p:nvPr/>
        </p:nvSpPr>
        <p:spPr>
          <a:xfrm>
            <a:off x="626364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71879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7080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classify the type of defect visible in a photo (scratch, deformation, structural damage, contamination...).</a:t>
            </a:r>
            <a:endParaRPr lang="en-US" sz="800" dirty="0">
              <a:solidFill>
                <a:srgbClr val="5B6168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 We use a curated </a:t>
            </a:r>
            <a:r>
              <a:rPr lang="en-US" sz="800" dirty="0" err="1">
                <a:solidFill>
                  <a:srgbClr val="5B6168"/>
                </a:solidFill>
                <a:ea typeface="+mn-lt"/>
                <a:cs typeface="+mn-lt"/>
              </a:rPr>
              <a:t>MVTec</a:t>
            </a:r>
            <a:r>
              <a:rPr lang="en-US" sz="800" dirty="0">
                <a:solidFill>
                  <a:srgbClr val="5B6168"/>
                </a:solidFill>
                <a:ea typeface="+mn-lt"/>
                <a:cs typeface="+mn-lt"/>
              </a:rPr>
              <a:t> AD image set — only categories relevant to motors and VFDs (cable, metal nut, screw, transistor).</a:t>
            </a:r>
            <a:endParaRPr lang="en-US" dirty="0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729818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1" name="Text 49"/>
          <p:cNvSpPr/>
          <p:nvPr/>
        </p:nvSpPr>
        <p:spPr>
          <a:xfrm>
            <a:off x="729818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06840" y="315468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1F2F3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3" name="Shape 51"/>
          <p:cNvSpPr/>
          <p:nvPr/>
        </p:nvSpPr>
        <p:spPr>
          <a:xfrm>
            <a:off x="9189720" y="3300984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4" name="Text 52"/>
          <p:cNvSpPr/>
          <p:nvPr/>
        </p:nvSpPr>
        <p:spPr>
          <a:xfrm>
            <a:off x="918972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644874" y="33650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Validator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196884" y="372167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check whether the model's answer states safety precautions before any recommended repair step.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use an LLM judge plus a deterministic keyword cross-check, and audit every answer in the evaluation notebook.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Not yet a live blocking gate in the app -- measured failure rate: 40.0% for the agent vs. 94.1% for an uncontracted baseline.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10224260" y="447980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8" name="Text 56"/>
          <p:cNvSpPr/>
          <p:nvPr/>
        </p:nvSpPr>
        <p:spPr>
          <a:xfrm>
            <a:off x="10224260" y="446867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15468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1F2F3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0" name="Shape 58"/>
          <p:cNvSpPr/>
          <p:nvPr/>
        </p:nvSpPr>
        <p:spPr>
          <a:xfrm>
            <a:off x="3337560" y="5175504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1" name="Text 59"/>
          <p:cNvSpPr/>
          <p:nvPr/>
        </p:nvSpPr>
        <p:spPr>
          <a:xfrm>
            <a:off x="333756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379271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334472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build an "agent" that decides on its own which tool to use.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chooses between manuals, history, or image, depending on the question.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combines the information from all of them before answering.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36097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5" name="Text 63"/>
          <p:cNvSpPr/>
          <p:nvPr/>
        </p:nvSpPr>
        <p:spPr>
          <a:xfrm>
            <a:off x="437210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08076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E4F2EC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7" name="Shape 65"/>
          <p:cNvSpPr/>
          <p:nvPr/>
        </p:nvSpPr>
        <p:spPr>
          <a:xfrm>
            <a:off x="6263640" y="5175504"/>
            <a:ext cx="347472" cy="347472"/>
          </a:xfrm>
          <a:prstGeom prst="ellipse">
            <a:avLst/>
          </a:prstGeom>
          <a:solidFill>
            <a:srgbClr val="0B6E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8" name="Text 66"/>
          <p:cNvSpPr/>
          <p:nvPr/>
        </p:nvSpPr>
        <p:spPr>
          <a:xfrm>
            <a:off x="626364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71879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627080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The system remembers what was said earlier in the same conversation.</a:t>
            </a:r>
            <a:endParaRPr lang="en-US" sz="80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It also keeps memory tied to each specific machine.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test it with a follow-up question.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7287056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2" name="Text 70"/>
          <p:cNvSpPr/>
          <p:nvPr/>
        </p:nvSpPr>
        <p:spPr>
          <a:xfrm>
            <a:off x="7298180" y="6354324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006840" y="50292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1F2F3"/>
          </a:solidFill>
          <a:ln/>
          <a:effectLst>
            <a:outerShdw blurRad="76200" dist="25400" dir="5400000" algn="bl" rotWithShape="0">
              <a:srgbClr val="3A3A3A">
                <a:alpha val="12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4" name="Shape 72"/>
          <p:cNvSpPr/>
          <p:nvPr/>
        </p:nvSpPr>
        <p:spPr>
          <a:xfrm>
            <a:off x="9189720" y="5175504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5" name="Text 73"/>
          <p:cNvSpPr/>
          <p:nvPr/>
        </p:nvSpPr>
        <p:spPr>
          <a:xfrm>
            <a:off x="9189720" y="51755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9644874" y="52395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9196884" y="5596194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create questions with already-known correct answers.</a:t>
            </a:r>
            <a:endParaRPr lang="en-US" sz="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measure whether the system answers correctly and cites properly.</a:t>
            </a:r>
            <a:endParaRPr lang="en-US"/>
          </a:p>
          <a:p>
            <a:pPr>
              <a:buFont typeface="Arial"/>
              <a:buChar char="•"/>
            </a:pPr>
            <a:r>
              <a:rPr lang="en-US" sz="800">
                <a:solidFill>
                  <a:srgbClr val="5B6168"/>
                </a:solidFill>
                <a:ea typeface="+mn-lt"/>
                <a:cs typeface="+mn-lt"/>
              </a:rPr>
              <a:t> We compare versions to see if a change made things better or worse.</a:t>
            </a:r>
            <a:endParaRPr lang="en-US"/>
          </a:p>
          <a:p>
            <a:pPr marL="127000" indent="-1270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endParaRPr lang="en-US" sz="800" dirty="0">
              <a:solidFill>
                <a:srgbClr val="5B6168"/>
              </a:solidFill>
              <a:ea typeface="Calibri"/>
              <a:cs typeface="Calibri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10224260" y="6354324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9" name="Text 77"/>
          <p:cNvSpPr/>
          <p:nvPr/>
        </p:nvSpPr>
        <p:spPr>
          <a:xfrm>
            <a:off x="10224260" y="6343199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A9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35635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Core Requirements Checklist (added 2026-08-19)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Cross-checked against the official bootcamp spec, 2026-08-19 — all 7 requirements ✅ Done as of 2026-08-21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947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22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51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 (bootcamp spec)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Retrieval-Augmented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Chroma vector DB, citations in every answer (factory_floor/rag.py)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Agents (tool choice + memory)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factory_floor/agent.py — a real agentic architecture (langchain.agents.create_agent, LangGraph under the hood) with search_manuals and get_maintenance_history tools; the model decides which to call, combines them with any photo classification, and asks a clarifying question instead of guessing when signals conflict (verified with a real conflicting-signals test). Memory carried via the existing session turns/chat history.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Tracing / 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LangSmith, dedicated “factory-floor” project (factory_floor/tracing.py, does not touch the shared .env). Every agent/baseline run is tagged, named, and returns a run_id; a real multi-step trace (2 tools, in order) verified live in notebooks/08_tracing_observability.ipynb, alongside a single-chain baseline trace and a zero-tool-call reasoning trace.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Multimodal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88600"/>
                          </a:solidFill>
                        </a:defRPr>
                      </a:pPr>
                      <a:r>
                        <a:rPr>
                          <a:solidFill>
                            <a:srgbClr val="1E7A3C"/>
                          </a:solidFill>
                        </a:rP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Defect classification over curated MVTec AD subset (cable, metal_nut, screw, transistor) — factory_floor/vision.py. Trained classifier 82.2% accuracy vs. 77.1% majority-class / 42.5% zero-shot-LLM baselines on a held-out test split. Each classified photo also gets an LLM-generated recommended-actions response (safety precautions first, explicitly not manual-grounded) and joins the same conversation/follow-up flow as text questions in app.py.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Evaluation + baseline benchmarking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02A2A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 troubleshooting scenarios (eval_scenarios.csv) scored via factory_floor/evaluation.py, agent vs. baseline (rag.ask()): root-cause 78.4% vs. 75.7%, evidence 45.9% vs. 48.6%. 3 structural comparisons in notebooks/10_evaluation_baseline.ipynb: machine-history awareness (baseline 0%, structural), conflict handling (agent asks a clarifying question, baseline does not), and the safety audit (agent 40.0% precaution-ordering failure rate vs. baseline 94.1%, reported honestly). Vision (item 4) supplies the defect-classification accuracy part of this requirement.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 Deployment (web 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7A3C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Streamlit app, runs locally (app.py)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7. Final 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555555"/>
                          </a:solidFill>
                        </a:defRPr>
                      </a:pPr>
                      <a:r>
                        <a:t>N/A (end of project)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Delivered live at the end of the 5-week timeline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Item 05 — Computer Vision: Scope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2C6187"/>
                </a:solidFill>
              </a:defRPr>
            </a:pPr>
            <a:r>
              <a:t>The internal roadmap description did not match the official graded requirement — corrected 2026-08-19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Previous internal description (incorrect):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“The user uploads a photo (nameplate or fault display). The system reads that image and extracts useful info (fault code, model).”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Official spec requirement (“multimodal core”, non-negotiable):</a:t>
            </a:r>
          </a:p>
          <a:p>
            <a:pPr>
              <a:spcAft>
                <a:spcPts val="1000"/>
              </a:spcAft>
              <a:defRPr sz="1300" b="0">
                <a:solidFill>
                  <a:srgbClr val="2C6187"/>
                </a:solidFill>
              </a:defRPr>
            </a:pPr>
            <a:r>
              <a:t>• “Build the vision path over defect images: classify the type of defect visible in the photograph — a scratch, a crack, contamination, and so on.”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Dataset — curated, not generic: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MVTec Anomaly Detection, restricted to 4 categories physically plausible on/around motors and VFDs: cable, metal_nut, screw, transistor. The other 11 generic MVTec categories (bottle, hazelnut, toothbrush, ...) are deliberately excluded.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Evaluation requirement:</a:t>
            </a:r>
          </a:p>
          <a:p>
            <a:pPr>
              <a:spcAft>
                <a:spcPts val="1000"/>
              </a:spcAft>
              <a:defRPr sz="1300" b="0">
                <a:solidFill>
                  <a:srgbClr val="555555"/>
                </a:solidFill>
              </a:defRPr>
            </a:pPr>
            <a:r>
              <a:t>• Defect-classification accuracy on a held-out test split, benchmarked against a simpler baseline (zero-shot vision-LLM vs. a trained classifier).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945</Words>
  <Application>Microsoft Office PowerPoint</Application>
  <PresentationFormat>Widescreen</PresentationFormat>
  <Paragraphs>132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MARCELO CORREIA (EXTERNAL)</cp:lastModifiedBy>
  <cp:revision>203</cp:revision>
  <dcterms:created xsi:type="dcterms:W3CDTF">2026-08-13T16:50:37Z</dcterms:created>
  <dcterms:modified xsi:type="dcterms:W3CDTF">2026-08-19T12:45:25Z</dcterms:modified>
</cp:coreProperties>
</file>